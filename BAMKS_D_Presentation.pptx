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8BDF8"/>
                </a:solidFill>
              </a:defRPr>
            </a:pPr>
            <a:r>
              <a:t>BAMKS-D: SECURE HEALTHCARE CLOUD &amp; BLOCKCHAIN SYSTEM</a:t>
            </a:r>
          </a:p>
          <a:p>
            <a:pPr>
              <a:spcBef>
                <a:spcPts val="1200"/>
              </a:spcBef>
              <a:defRPr sz="1800">
                <a:solidFill>
                  <a:srgbClr val="FFFFFF"/>
                </a:solidFill>
              </a:defRPr>
            </a:pPr>
            <a:r>
              <a:t>Enabling Dynamic File-Level Operations in Attribute-Based Multi-Keyword Search for Cloud-Edge-IoT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4389120"/>
            <a:ext cx="10362895" cy="1645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4389120"/>
            <a:ext cx="103628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526280"/>
            <a:ext cx="999713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PROJECT CONTRIBUTORS &amp; BASE PAPER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84632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• Team Members: Prashant Singh (24BYB1042) &amp; Adak Rushikesh (24BYB1055)</a:t>
            </a:r>
          </a:p>
          <a:p>
            <a:pPr>
              <a:spcBef>
                <a:spcPts val="400"/>
              </a:spcBef>
              <a:defRPr sz="1200">
                <a:solidFill>
                  <a:srgbClr val="64748B"/>
                </a:solidFill>
              </a:defRPr>
            </a:pPr>
            <a:r>
              <a:t>• Base Paper: Cheng et al., Elsevier (Internet of Things), Vol 36, Art 101838, Dec 2025/2026 (DOI: 10.1016/j.iot.2025.101838)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BAMKS-D REVIEW 2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Research Gap (Cheng et al. Elsevier 2026)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Base Paper Achievements (Cheng et al.)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Fine-grained CP-ABE Access Control for healthcare records.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Verifiable Conjunctive Multi-Keyword Search over encrypted indices.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Schnorr Non-Interactive Zero-Knowledge (SNIZK) verification proof.</a:t>
            </a:r>
          </a:p>
          <a:p>
            <a:pPr>
              <a:spcAft>
                <a:spcPts val="1000"/>
              </a:spcAft>
              <a:defRPr sz="1300">
                <a:solidFill>
                  <a:srgbClr val="0F172A"/>
                </a:solidFill>
              </a:defRPr>
            </a:pPr>
            <a:r>
              <a:t>• Distributed secret sharing across multi-owner hospitals.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Critical Bottleneck &amp; Solved Research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 b="0">
                <a:solidFill>
                  <a:srgbClr val="0F172A"/>
                </a:solidFill>
              </a:defRPr>
            </a:pPr>
            <a:r>
              <a:t>• Base Paper Limitation (Section 8 Quote): 'Future work must extend BAMKS to support dynamic adding, deleting, and updating.'</a:t>
            </a:r>
          </a:p>
          <a:p>
            <a:pPr>
              <a:spcAft>
                <a:spcPts val="1000"/>
              </a:spcAft>
              <a:defRPr sz="1250" b="0">
                <a:solidFill>
                  <a:srgbClr val="0F172A"/>
                </a:solidFill>
              </a:defRPr>
            </a:pPr>
            <a:r>
              <a:t>• The Bottleneck: Base paper grouped all files into a static version F_ver.</a:t>
            </a:r>
          </a:p>
          <a:p>
            <a:pPr>
              <a:spcAft>
                <a:spcPts val="1000"/>
              </a:spcAft>
              <a:defRPr sz="1250" b="0">
                <a:solidFill>
                  <a:srgbClr val="0F172A"/>
                </a:solidFill>
              </a:defRPr>
            </a:pPr>
            <a:r>
              <a:t>• Impact: Modifying 1 file forced re-encryption of ALL L files (O(L x m) complexity = ~5,560 ms latency!).</a:t>
            </a:r>
          </a:p>
          <a:p>
            <a:pPr>
              <a:spcAft>
                <a:spcPts val="1000"/>
              </a:spcAft>
              <a:defRPr sz="1250" b="1">
                <a:solidFill>
                  <a:srgbClr val="E11D48"/>
                </a:solidFill>
              </a:defRPr>
            </a:pPr>
            <a:r>
              <a:t>• OUR EXTENSION: Solved via SingleDocAdd O(m) &amp; On-Chain SingleDocDelete O(1) in 0.001 ms!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BAMKS-D REVIEW 2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System Architecture &amp; Interaction Flow Diagram</a:t>
            </a:r>
          </a:p>
        </p:txBody>
      </p:sp>
      <p:pic>
        <p:nvPicPr>
          <p:cNvPr id="5" name="Picture 4" descr="diagra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10728655" cy="58113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BAMKS-D REVIEW 2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Cryptographic Engine &amp; Security Foundations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33832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1. CP-ABE Access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Access Policy attached to file (e.g. 'Role_Doctor AND Dept_Cardiology').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Attribute Authority (AA_Medical) issues secret keys K2_x = g^γ_x for attributes.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Decryption mathematically succeeds ONLY if doctor attributes satisfy policy.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3832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19"/>
            <a:ext cx="3017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2. AES-256-GCM Payload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828800"/>
            <a:ext cx="31089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Symmetric 256-bit AES encryption for payload.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96-bit Random Nonce: Guarantees unique ciphertext for identical records.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128-bit GCM Tag: Digital seal that detects any cloud tampering instantly.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4290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280160"/>
            <a:ext cx="34290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417319"/>
            <a:ext cx="3063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3. Discrete Log Keyword Index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1828800"/>
            <a:ext cx="31546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Keyword Token: g^(η * H1(kw)) mod P.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Hides plaintext keywords from untrusted cloud.</a:t>
            </a:r>
          </a:p>
          <a:p>
            <a:pPr>
              <a:spcAft>
                <a:spcPts val="800"/>
              </a:spcAft>
              <a:defRPr sz="1200">
                <a:solidFill>
                  <a:srgbClr val="0F172A"/>
                </a:solidFill>
              </a:defRPr>
            </a:pPr>
            <a:r>
              <a:t>• Enables trapdoor search matching without decrypting files.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BAMKS-D REVIEW 2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Experimental Performance Benchmarks &amp; Speedup Chart</a:t>
            </a:r>
          </a:p>
        </p:txBody>
      </p:sp>
      <p:pic>
        <p:nvPicPr>
          <p:cNvPr id="5" name="Picture 4" descr="chart_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486400" cy="304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92240" y="1280160"/>
            <a:ext cx="493776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92240" y="1280160"/>
            <a:ext cx="493776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417319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Performance Summary &amp; Key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0" y="182880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Base Paper Full Re-Keying: ~5,560 ms (Requires exponentiation across all L files).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Our SingleDocAdd: ~0.12 ms (46,000x Faster -- operates only on 1 file).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Our SingleDocDelete: ~0.001 ms (5.5 Million x Faster -- 1 boolean flip on smart contract).</a:t>
            </a:r>
          </a:p>
          <a:p>
            <a:pPr>
              <a:spcAft>
                <a:spcPts val="1200"/>
              </a:spcAft>
              <a:defRPr sz="1250">
                <a:solidFill>
                  <a:srgbClr val="0F172A"/>
                </a:solidFill>
              </a:defRPr>
            </a:pPr>
            <a:r>
              <a:t>• Gas Overhead: ~45,100 gas (~$0.001 on Ethereum mainnet).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BAMKS-D REVIEW 2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Proposed Algorithms &amp; Code Line Mapping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4420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10744200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10378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IMPLEMENTATION ARCHITECTURE &amp; LINE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103784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300" b="1">
                <a:solidFill>
                  <a:srgbClr val="4F46E5"/>
                </a:solidFill>
              </a:defRPr>
            </a:pPr>
            <a:r>
              <a:t>• Algorithm 12: SingleDocAdd [O(m)]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   Description: Appends single encrypted record without version re-keying.  |  Exact Code Location: src/dynamic_extension.py:17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• Algorithm 13: SingleDocDelete [O(1)]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   Description: Flips deletedDocRegistry[docId] = true on smart contract.  |  Exact Code Location: src/dynamic_extension.py:36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• Algorithm 14: SingleDocModify [O(m)]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   Description: Executes deletion followed by single-document addition.  |  Exact Code Location: src/dynamic_extension.py:50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• Algorithm 15: SearchWithFilter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   Description: Filters out deleted/revoked documents during trapdoor search.  |  Exact Code Location: src/dynamic_extension.py:62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• Smart Contract: BAMKS_Registry.sol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   Description: Maintains mapping(uint256 =&gt; bool) public deletedDocRegistry.  |  Exact Code Location: contracts/BAMKS_Registry.sol:25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8BDF8"/>
                </a:solidFill>
              </a:defRPr>
            </a:pPr>
            <a:r>
              <a:t>BAMKS-D REVIEW 2 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698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Conclusion &amp; Review 3 Roadmap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280160"/>
            <a:ext cx="5120640" cy="7315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19"/>
            <a:ext cx="47548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Key Accomplishments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7548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1. Solved Section 8 research gap from Cheng et al. (Elsevier IoT 2026).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2. Delivered O(m) single-document addition without dataset re-keying.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3. Delivered O(1) instant on-chain revocation mapping on Ethereum smart contract.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4. Fully functional live web system with dynamic random clinical case generator.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21208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212080" cy="7315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19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Review 3 Roadmap &amp; 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1. Deploy Smart Contract on Ethereum Sepolia Public Testnet.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2. Integrate zk-SNARKs (Circom/snarkjs) for zero-knowledge search verification.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3. Implement Post-Quantum Cryptography (Crystals-Kyber) for quantum resistance.</a:t>
            </a:r>
          </a:p>
          <a:p>
            <a:pPr>
              <a:spcAft>
                <a:spcPts val="1000"/>
              </a:spcAft>
              <a:defRPr sz="1250">
                <a:solidFill>
                  <a:srgbClr val="0F172A"/>
                </a:solidFill>
              </a:defRPr>
            </a:pPr>
            <a:r>
              <a:t>4. Profile battery and CPU consumption on physical Raspberry Pi IoT edge gateway.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