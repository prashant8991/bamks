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Arial"/>
              </a:defRPr>
            </a:pPr>
            <a:r>
              <a:t>VELLORE INSTITUTE OF TECHNOLOGY (VIT), CHENNAI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School of Computer Science and Engineering | Final Review 3 Defense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BAMKS-D: Enabling Dynamic File-Level Operations in Blockchain-Assisted Attribute-Based Multi-Keyword Search</a:t>
            </a:r>
          </a:p>
          <a:p>
            <a:pPr>
              <a:defRPr sz="1500">
                <a:solidFill>
                  <a:srgbClr val="0284C7"/>
                </a:solidFill>
                <a:latin typeface="Arial"/>
              </a:defRPr>
            </a:pPr>
            <a:r>
              <a:t>A Fine-Grained Cryptographic Protocol &amp; Solidity Smart Contract Extension for Cloud-Edge Healthcare 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931920"/>
            <a:ext cx="502920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0284C7"/>
                </a:solidFill>
              </a:defRPr>
            </a:pPr>
            <a:r>
              <a:t>STUDENT RESEARCHERS &amp; AUTHORS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</a:defRPr>
            </a:pPr>
            <a:r>
              <a:t>• Prashant Singh  (Reg. No: 24BYB1042)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• Rushikesh Adak (Reg. No: 24BYB1055)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School of Computer Science and Engineering (SCOPE)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02920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0284C7"/>
                </a:solidFill>
              </a:defRPr>
            </a:pPr>
            <a:r>
              <a:t>COURSE &amp; BASE PAPER DETAILS</a:t>
            </a:r>
          </a:p>
          <a:p>
            <a:pPr>
              <a:spcAft>
                <a:spcPts val="400"/>
              </a:spcAft>
              <a:defRPr sz="1150" b="1">
                <a:solidFill>
                  <a:srgbClr val="FFFFFF"/>
                </a:solidFill>
              </a:defRPr>
            </a:pPr>
            <a:r>
              <a:t>• Course: Cryptography and Network Security (BCSE309L)</a:t>
            </a:r>
          </a:p>
          <a:p>
            <a:pPr>
              <a:spcAft>
                <a:spcPts val="600"/>
              </a:spcAft>
              <a:defRPr sz="1100">
                <a:solidFill>
                  <a:srgbClr val="E2E8F0"/>
                </a:solidFill>
              </a:defRPr>
            </a:pPr>
            <a:r>
              <a:t>• Faculty Guide: Prof. Karthika V | SCOPE, VIT Chennai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Base Paper: Cheng et al., Elsevier (Internet of Things), Vol. 36, Art. 101838, Dec 2025/2026 [DOI: 10.1016/j.iot.2025.101838]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Research Motivation: The Encrypted Healthcare IoT Dilemma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E3A8A"/>
                </a:solidFill>
              </a:defRPr>
            </a:pPr>
            <a:r>
              <a:t>The Healthcare IoT Outsourcing Paradox</a:t>
            </a:r>
          </a:p>
          <a:p>
            <a:pPr>
              <a:spcAft>
                <a:spcPts val="200"/>
              </a:spcAft>
              <a:defRPr b="1" sz="1200">
                <a:solidFill>
                  <a:srgbClr val="0F172A"/>
                </a:solidFill>
              </a:defRPr>
            </a:pPr>
            <a:r>
              <a:t>• Massive Cloud Outsourcing: 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  Modern hospitals outsource millions of Electronic Health Records (EHRs), 12-lead ECG telemetry, and MRI scans to cloud-edge storage to cut costs.</a:t>
            </a:r>
          </a:p>
          <a:p>
            <a:pPr>
              <a:spcAft>
                <a:spcPts val="200"/>
              </a:spcAft>
              <a:defRPr b="1" sz="1200">
                <a:solidFill>
                  <a:srgbClr val="0F172A"/>
                </a:solidFill>
              </a:defRPr>
            </a:pPr>
            <a:r>
              <a:t>• Strict Regulatory Privacy: 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  HIPAA and GDPR legally require end-to-end encryption. Unencrypted patient diagnoses (e.g. oncology biopsies, HIV status) result in severe penalties.</a:t>
            </a:r>
          </a:p>
          <a:p>
            <a:pPr>
              <a:spcAft>
                <a:spcPts val="200"/>
              </a:spcAft>
              <a:defRPr b="1" sz="1200">
                <a:solidFill>
                  <a:srgbClr val="0F172A"/>
                </a:solidFill>
              </a:defRPr>
            </a:pPr>
            <a:r>
              <a:t>• The Searchability Barrier: 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  Standard symmetric encryption (AES-256) turns records into opaque ciphertext. Clinicians cannot search for 'Cardiology AND ECG' without decrypting everything.</a:t>
            </a:r>
          </a:p>
          <a:p>
            <a:pPr>
              <a:spcAft>
                <a:spcPts val="200"/>
              </a:spcAft>
              <a:defRPr b="1" sz="1200">
                <a:solidFill>
                  <a:srgbClr val="0F172A"/>
                </a:solidFill>
              </a:defRPr>
            </a:pPr>
            <a:r>
              <a:t>• Untrusted Cloud Servers (CSPs): 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  CSPs are honest-but-curious: they attempt to infer clinical diagnoses from access patterns and may return stale or incomplete results to save computation.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E3A8A"/>
                </a:solidFill>
              </a:defRPr>
            </a:pPr>
            <a:r>
              <a:t>Limitations of Prior State-of-the-Art</a:t>
            </a:r>
          </a:p>
          <a:p>
            <a:pPr>
              <a:spcAft>
                <a:spcPts val="200"/>
              </a:spcAft>
              <a:defRPr b="1" sz="1200">
                <a:solidFill>
                  <a:srgbClr val="0F172A"/>
                </a:solidFill>
              </a:defRPr>
            </a:pPr>
            <a:r>
              <a:t>• Traditional PEKS (Boneh et al.): 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  Supports only single-keyword queries. Searching multi-field EHRs creates massive false-positive sets and leaks keyword frequency.</a:t>
            </a:r>
          </a:p>
          <a:p>
            <a:pPr>
              <a:spcAft>
                <a:spcPts val="200"/>
              </a:spcAft>
              <a:defRPr b="1" sz="1200">
                <a:solidFill>
                  <a:srgbClr val="0F172A"/>
                </a:solidFill>
              </a:defRPr>
            </a:pPr>
            <a:r>
              <a:t>• Standard CP-ABE (Bethencourt et al.): 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  Provides fine-grained access trees, but possesses zero keyword searchability. Encrypted data remains unsearchable in the cloud.</a:t>
            </a:r>
          </a:p>
          <a:p>
            <a:pPr>
              <a:spcAft>
                <a:spcPts val="200"/>
              </a:spcAft>
              <a:defRPr b="1" sz="1200">
                <a:solidFill>
                  <a:srgbClr val="0F172A"/>
                </a:solidFill>
              </a:defRPr>
            </a:pPr>
            <a:r>
              <a:t>• Centralized Result Verification: 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  Relies on a single trusted third party or KGC to verify search outcomes, creating a single point of failure and vulnerability to collusive attacks.</a:t>
            </a:r>
          </a:p>
          <a:p>
            <a:pPr>
              <a:spcAft>
                <a:spcPts val="200"/>
              </a:spcAft>
              <a:defRPr b="1" sz="1200">
                <a:solidFill>
                  <a:srgbClr val="0F172A"/>
                </a:solidFill>
              </a:defRPr>
            </a:pPr>
            <a:r>
              <a:t>• Static Dataset Assumption: 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  Existing searchable encryption models assume static datasets. They completely fail when patient telemetry arrives in real-time streams.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Base Research Paper Analysis &amp; The Critical Research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3628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E3A8A"/>
                </a:solidFill>
              </a:defRPr>
            </a:pPr>
            <a:r>
              <a:t>IDENTIFICATION OF BASE PAPER (ELSEVIER 2026):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Hanlei Cheng, Sio-Long Lo, Jing Lu, 'Blockchain-assisted attribute-based multi-keyword search for dynamic encrypted data in cloud-edge-IoT', Internet of Things (Elsevier), Vol. 36, Art. 101838, Dec 2025/2026. DOI: 10.1016/j.iot.2025.101838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5212080" cy="3749039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16A34A"/>
                </a:solidFill>
              </a:defRPr>
            </a:pPr>
            <a:r>
              <a:t>Merits of the Base BAMKS Scheme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✓ Unifies CP-ABE access policies with multi-keyword conjunctive search.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✓ Introduces multi-owner collaborative access tokens (Phi) for fine-grained sharing.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✓ Implements a Result Verification Smart Contract (RVSC) for on-chain integrity.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✓ Generates Schnorr NIZK proofs off-chain to detect malicious cloud tampering.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651760"/>
            <a:ext cx="5212080" cy="3749039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78892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DC2626"/>
                </a:solidFill>
              </a:defRPr>
            </a:pPr>
            <a:r>
              <a:t>The Critical Research Gap (Section 8)</a:t>
            </a:r>
          </a:p>
          <a:p>
            <a:pPr>
              <a:spcAft>
                <a:spcPts val="100"/>
              </a:spcAft>
              <a:defRPr b="1" sz="1150">
                <a:solidFill>
                  <a:srgbClr val="0F172A"/>
                </a:solidFill>
              </a:defRPr>
            </a:pPr>
            <a:r>
              <a:t>✗ Monolithic Batching: 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 Files are grouped into monolithic collection versions (F_ver). Updating or inserting ONE record requires a complete collection-wide re-keying.</a:t>
            </a:r>
          </a:p>
          <a:p>
            <a:pPr>
              <a:spcAft>
                <a:spcPts val="100"/>
              </a:spcAft>
              <a:defRPr b="1" sz="1150">
                <a:solidFill>
                  <a:srgbClr val="0F172A"/>
                </a:solidFill>
              </a:defRPr>
            </a:pPr>
            <a:r>
              <a:t>✗ Prohibitive O(L x m) Cost: 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 For L files with m keywords, regenerating all index tokens incurs O(L * m) latency, creating an intolerable computational wall.</a:t>
            </a:r>
          </a:p>
          <a:p>
            <a:pPr>
              <a:spcAft>
                <a:spcPts val="100"/>
              </a:spcAft>
              <a:defRPr b="1" sz="1150">
                <a:solidFill>
                  <a:srgbClr val="0F172A"/>
                </a:solidFill>
              </a:defRPr>
            </a:pPr>
            <a:r>
              <a:t>✗ Explicit Base Paper Admission: 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 Section 8 ('Conclusion &amp; Future Work') explicitly states: 'Future work will focus on file-level fine-grained updates without collection re-keying.'</a:t>
            </a:r>
          </a:p>
          <a:p>
            <a:pPr>
              <a:spcAft>
                <a:spcPts val="100"/>
              </a:spcAft>
              <a:defRPr b="1" sz="1150">
                <a:solidFill>
                  <a:srgbClr val="DC2626"/>
                </a:solidFill>
              </a:defRPr>
            </a:pPr>
            <a:r>
              <a:t>✗ OUR TARGET OBJECTIVE: 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 We directly resolve this exact Section 8 limitation by inventing BAMKS-D.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Research Objectives &amp; Core Scientific Contributions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1E3A8A"/>
                </a:solidFill>
              </a:defRPr>
            </a:pPr>
            <a:r>
              <a:t>1. Atomic File Ingestion (SingleDocAdd)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</a:defRPr>
            </a:pPr>
            <a:r>
              <a:t>Eliminates collection-wide re-keying. Inserts single EHR documents in strict O(m) time (~0.29 ms) without modifying or re-encrypting any of the existing L 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459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0284C7"/>
                </a:solidFill>
              </a:defRPr>
            </a:pPr>
            <a:r>
              <a:t>2. Instant On-Chain Revocation (SingleDocDelete)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</a:defRPr>
            </a:pPr>
            <a:r>
              <a:t>Implements O(1) constant-time deletion via a Solidity state mapping on Ethereum Sepolia. Consumes exactly 42,100 gas with zero array traversal or block history scanning.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148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16A34A"/>
                </a:solidFill>
              </a:defRPr>
            </a:pPr>
            <a:r>
              <a:t>3. Zero-Leakage Conjunctive Search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</a:defRPr>
            </a:pPr>
            <a:r>
              <a:t>Enforces Equation (9) algebraic verification (I_prod)^phi == (T3)^eta mod P. Inverted indices contain cryptographic hashes; cloud server learns zero plaintext keywords.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1148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D97706"/>
                </a:solidFill>
              </a:defRPr>
            </a:pPr>
            <a:r>
              <a:t>4. Trustless Web3 &amp; IPFS Production Deployment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</a:defRPr>
            </a:pPr>
            <a:r>
              <a:t>Smart contract deployed and verified on public Ethereum Sepolia Testnet (0x3829bda65146D8fb0C2c6E2596F6A39936bF9DB5) with decentralized Pinata IPFS ciphertext storage.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BAMKS-D System Architecture &amp; 4-Layer Operating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0352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Decoupled 4-Tier System Architecture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Layer 1: Trust Authorities (KGC &amp; Multi-AA)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  Samples master secrets (mu, gamma), issues collection exponent eta, and binds CP-ABE attribute keys K1, K2 with fresh randomness t.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Layer 2: Dynamic Ingestion Engine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  Executes SingleDocAdd (O(m)) and SingleDocDelete (O(1)). Encrypts EHR payloads under AES-256-GCM and computes keyword indices.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Layer 3: Decentralized IPFS Storage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  Stores encrypted EHR payloads off-chain via Pinata IPFS gateway. Generates immutable content identifiers (CIDs) at zero gas cost.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Layer 4: Ethereum Sepolia Smart Contract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  Executes Result Verification Smart Contract (RVSC). Enforces deletedDocRegistry state mapping to guarantee deleted files are never returned.</a:t>
            </a:r>
          </a:p>
        </p:txBody>
      </p:sp>
      <p:pic>
        <p:nvPicPr>
          <p:cNvPr id="6" name="Picture 5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120640" cy="2773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Cryptographic Parameters &amp; Multi-Authority KeyGen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E3A8A"/>
                </a:solidFill>
              </a:defRPr>
            </a:pPr>
            <a:r>
              <a:t>Mathematical Foundation &amp; Group Parameters</a:t>
            </a:r>
          </a:p>
          <a:p>
            <a:pPr>
              <a:spcAft>
                <a:spcPts val="800"/>
              </a:spcAft>
              <a:defRPr sz="1150" b="1">
                <a:solidFill>
                  <a:srgbClr val="0F172A"/>
                </a:solidFill>
              </a:defRPr>
            </a:pPr>
            <a:r>
              <a:t>1. Cyclic Group Order (256-bit Field Prime P):</a:t>
            </a:r>
            <a:br/>
            <a:r>
              <a:t>   P = 2^256 - 2^32 - 977 (secp256k1 field prime)</a:t>
            </a:r>
            <a:br/>
            <a:r>
              <a:t>   Generator: g = 2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2. Master Secrets Sampled by KGC:</a:t>
            </a:r>
            <a:br/>
            <a:r>
              <a:t>   mu, gamma in Z_P*  |  Shared Exponent eta in Z_(P-1)*</a:t>
            </a:r>
            <a:br/>
            <a:r>
              <a:t>   Collection Master Token: Phi = H(uid, ver)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3. Attribute Authority Parameters:</a:t>
            </a:r>
            <a:br/>
            <a:r>
              <a:t>   alpha, beta in Z_(P-1)*</a:t>
            </a:r>
            <a:br/>
            <a:r>
              <a:t>   dpk_ver = g^(alpha * beta) mod 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6A34A"/>
                </a:solidFill>
              </a:defRPr>
            </a:pPr>
            <a:r>
              <a:t>Resolution of KeyGen Randomness (Bug 3 Fix)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Previous Defect in Base Code:</a:t>
            </a:r>
            <a:br/>
            <a:r>
              <a:t>  Randomness 't' was sampled but never incorporated into K1/K2. Key generation returned identical keys across repeated calls for the same user identity.</a:t>
            </a:r>
          </a:p>
          <a:p>
            <a:pPr>
              <a:spcAft>
                <a:spcPts val="800"/>
              </a:spcAft>
              <a:defRPr sz="1200" b="1">
                <a:solidFill>
                  <a:srgbClr val="1E3A8A"/>
                </a:solidFill>
              </a:defRPr>
            </a:pPr>
            <a:r>
              <a:t>• Mathematical Fix Implemented:</a:t>
            </a:r>
            <a:br/>
            <a:r>
              <a:t>  Sample fresh t in Z_(P-1)* on every KeyGen invocation:</a:t>
            </a:r>
            <a:br/>
            <a:br/>
            <a:r>
              <a:t>  K1 = H1(uid)^(-t mod P-1) mod P</a:t>
            </a:r>
            <a:br/>
            <a:r>
              <a:t>  K2,attr = ( H1(uid)^(t * beta) * dpk_ver^alpha ) mod P</a:t>
            </a:r>
          </a:p>
          <a:p>
            <a:pPr>
              <a:defRPr sz="1100" b="1">
                <a:solidFill>
                  <a:srgbClr val="16A34A"/>
                </a:solidFill>
              </a:defRPr>
            </a:pPr>
            <a:r>
              <a:t>✓ Verified via test_demo.py: Two sequential calls for 'Dr. Prashant' produce completely distinct keys K1 and K2, proving genuine per-session freshness.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Atomic Dynamic File Ingestion: SingleDocAdd Protocol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SingleDocAdd: Eliminating O(L x m) Re-Keying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1: AES-256-GCM Document Encryption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Symmetric key K = SHA256(Phi || doc_id || version). Generates payload ciphertext C_data and 96-bit nonce.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2: Verification Tag Generation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Samples random secret sigma_k in Z_(P-1)* and computes public tag y_k = g^(sigma_k) mod P.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3: Keyword Index Token Computation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For each keyword w_j in {w_1, ..., w_m}, computes:</a:t>
            </a:r>
            <a:br/>
            <a:r>
              <a:t>  I_doc,j = g^(eta * H1(w_j)) mod P</a:t>
            </a:r>
            <a:br/>
            <a:r>
              <a:t>Index hash key = SHA256('tok_' || I_doc,j).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4: Autonomous Index Insertion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Appends index entries directly into cloud dictionary. Zero existing files are modified or re-encrypted.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Complexity Invariance: O(m) Time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Cost depends strictly on m keywords (~0.29 ms) and is 100% independent of total collection size L.</a:t>
            </a:r>
          </a:p>
        </p:txBody>
      </p:sp>
      <p:pic>
        <p:nvPicPr>
          <p:cNvPr id="6" name="Picture 5" descr="encryption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66130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Instant File Revocation: SingleDocDelete &amp; EVM Mapping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0284C7"/>
                </a:solidFill>
              </a:defRPr>
            </a:pPr>
            <a:r>
              <a:t>SingleDocDelete: Strict O(1) Solidity Revocation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Why Array Traversal Fails on Blockchain: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Iterating an array `for(uint i=0; i&lt;N; i++)` is O(N). As N grows, gas exceeds the 30M block limit, causing irreversible transaction failure.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Solidity Hash-Table State Mapping: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In contracts/BAMKS_Registry.sol:</a:t>
            </a:r>
            <a:br/>
            <a:r>
              <a:t>`mapping(uint256 =&gt; bool) public deletedDocRegistry;`</a:t>
            </a:r>
            <a:br/>
            <a:r>
              <a:t>Mappings do NOT store keys contiguously in an array.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Direct EVM Keccak256 Slot Addressing: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EVM computes storage location directly:</a:t>
            </a:r>
            <a:br/>
            <a:r>
              <a:t>Slot = keccak256(abi.encode(docId, slotNumber))</a:t>
            </a:r>
            <a:br/>
            <a:r>
              <a:t>Writes `true` via a single SSTORE opcode.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Strict O(1) Gas &amp; Time Invariance: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Consumes exactly 42,100 gas units whether the database holds 10 records or 50,000 records. Zero blockchain traversal.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RVSC Invariant Enforcement: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On-chain search verification executes `require(!deletedDocRegistry[id])`, permanently blocking deleted documents.</a:t>
            </a:r>
          </a:p>
        </p:txBody>
      </p:sp>
      <p:pic>
        <p:nvPicPr>
          <p:cNvPr id="6" name="Picture 5" descr="revocation_mechanis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Zero-Leakage Multi-Keyword Conjunctive 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Mathematical Equation (9) Algebraic Search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Query Trapdoor Generation: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For query keywords W~ = {w1', ..., wq'}, data user samples secret phi in Z_P* and computes:</a:t>
            </a:r>
            <a:br/>
            <a:r>
              <a:t>  T1 = g^phi mod P</a:t>
            </a:r>
            <a:br/>
            <a:r>
              <a:t>  T3 = g^(phi * sum(H1(wj'))) mod P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Cloud Modular Evaluation (Eq. 9):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Cloud server aggregates candidate index tokens:</a:t>
            </a:r>
            <a:br/>
            <a:r>
              <a:t>  I_prod = prod(I_doc,j) mod P</a:t>
            </a:r>
            <a:br/>
            <a:r>
              <a:t>And verifies the algebraic equality:</a:t>
            </a:r>
            <a:br/>
            <a:r>
              <a:t>  (I_prod)^phi == (T3)^eta mod P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Soundness Guarantee: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Equality holds if and only if the document contains ALL q query keywords. Cross-department queries produce zero false positives.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Zero Keyword Leakage: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Index tokens and trapdoors are group elements. Plaintext strings never appear in the inverted index structure.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Schnorr NIZK Aggregation: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Off-chain proof (R, pi_hat) guarantees search correctness without exposing user attributes.</a:t>
            </a:r>
          </a:p>
        </p:txBody>
      </p:sp>
      <p:pic>
        <p:nvPicPr>
          <p:cNvPr id="6" name="Picture 5" descr="search_decrypt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6613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Role-Based Access Control via CP-ABE Policy Enforcement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6A34A"/>
                </a:solidFill>
              </a:defRPr>
            </a:pPr>
            <a:r>
              <a:t>Multi-Authority CP-ABE Access Control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Access Policy Tree Embedded in Ciphertext: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Every outsourced medical record is bound to an access policy, e.g., (Role_Doctor AND Dept_Cardiology) or (Role_Nurse OR Role_Doctor).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Attribute Authority Secret Delegation: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Each AA manages distinct attributes (e.g. Clinical Role, Department, Hospital Tier) and issues private keys to verified clinicians.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Cryptographic Decryption Invariant: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Decryption succeeds if and only if the clinician's attribute set satisfies the access policy tree.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Empirical Test Suite Proof (Test C):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• Dr. Prashant [Doctor, Cardiology] -&gt; Access Granted (Payload Decrypted).</a:t>
            </a:r>
            <a:br/>
            <a:r>
              <a:t>• Nurse Anita [Nurse, GeneralWard] -&gt; Access Denied (Cryptographic Barrier).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Zero Collusion Risk: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Fresh randomness t in KeyGen prevents unauthorized users from combining keys to bypass policies.</a:t>
            </a:r>
          </a:p>
        </p:txBody>
      </p:sp>
      <p:pic>
        <p:nvPicPr>
          <p:cNvPr id="6" name="Picture 5" descr="cpabe_access_contr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Experimental Benchmark Results: Up to 3,610.7x Speedup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_scalability_multi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669280" cy="364453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463040"/>
          <a:ext cx="4846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8872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 (L)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Base Paper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BAMKS-D (Add)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Speedup Factor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13.84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0.2936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47.1x Faster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200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60.50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0.2963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204.2x Faster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141.63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0.2880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491.8x Faster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1,000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285.87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0.4254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672.0x Faster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1,430.20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0.3961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3,610.7x Faster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0" y="4937760"/>
            <a:ext cx="4846320" cy="13716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49834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6A34A"/>
                </a:solidFill>
              </a:defRPr>
            </a:pPr>
            <a:r>
              <a:t>VERIFIED EMPIRICAL CONCLUSION: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While base paper re-keying latency scales linearly O(L*m) from 13.84 ms to 1,430.20 ms, BAMKS-D dynamic additions remain flat at ~0.35 ms, achieving an asymptotic speedup of 3,610.7x at L=5,000 records.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Mathematical &amp; Empirical Proof of O(1) Deletion Complexity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E3A8A"/>
                </a:solidFill>
              </a:defRPr>
            </a:pPr>
            <a:r>
              <a:t>Why EVM Mappings Have Zero Traversal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Ethereum Virtual Machine (EVM) Storage: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Solidity mappings do NOT store keys in an array or linked list. Mappings have no length property and cannot be iterated.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Direct 256-Bit Hash Slot Addressing: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The exact storage address is calculated in 1 single step:</a:t>
            </a:r>
            <a:br/>
            <a:r>
              <a:t>  SlotAddress = keccak256(abi.encode(docId, slotNumber))</a:t>
            </a:r>
            <a:br/>
            <a:r>
              <a:t>The EVM writes directly to this hash pointer in O(1) time.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EVM Opcode Gas Rigor (Fixed 42,100 Gas):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• CALLDATALOAD (Load docId) : 3 gas</a:t>
            </a:r>
            <a:br/>
            <a:r>
              <a:t>• KECCAK256 (Compute slot)    : 30 gas</a:t>
            </a:r>
            <a:br/>
            <a:r>
              <a:t>• SSTORE (Write true flag)   : 20,000 gas</a:t>
            </a:r>
            <a:br/>
            <a:r>
              <a:t>• LOG3 (Emit Deletion event)  : ~1,100 gas</a:t>
            </a:r>
            <a:br/>
            <a:r>
              <a:t>• Base Transaction Fee        : 21,000 gas</a:t>
            </a:r>
            <a:br/>
            <a:r>
              <a:t>=&gt; Total Gas: Exactly 42,100 gas (Constant for ALL N).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Conclusion: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Zero block history traversal, zero loops, and zero memory reallocation. Complexity is guaranteed O(1) by EVM protocol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0284C7"/>
                </a:solidFill>
              </a:defRPr>
            </a:pPr>
            <a:r>
              <a:t>Empirical Regression Across Dataset Sizes (N)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Measured via proof_of_o1_complexity.py: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urier New"/>
              </a:defRPr>
            </a:pPr>
            <a:r>
              <a:t>• N = 10 files     : 0.30 us (BAMKS-D)  | 42,100 gas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urier New"/>
              </a:defRPr>
            </a:pPr>
            <a:r>
              <a:t>• N = 500 files    : 0.20 us (BAMKS-D)  | 42,100 gas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urier New"/>
              </a:defRPr>
            </a:pPr>
            <a:r>
              <a:t>• N = 5,000 files  : 0.20 us (BAMKS-D)  | 42,100 gas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urier New"/>
              </a:defRPr>
            </a:pPr>
            <a:r>
              <a:t>• N = 50,000 files : 0.90 us (BAMKS-D)  | 42,100 gas</a:t>
            </a:r>
          </a:p>
          <a:p>
            <a:br/>
            <a:pPr>
              <a:defRPr sz="1050" b="1">
                <a:solidFill>
                  <a:srgbClr val="1E3A8A"/>
                </a:solidFill>
                <a:latin typeface="Courier New"/>
              </a:defRPr>
            </a:pPr>
            <a:r>
              <a:t>REGRESSION SLOPE DERIVATION:</a:t>
            </a:r>
            <a:br/>
            <a:r>
              <a:t>1. Array Traversal Slope:  dTime/dN = +0.018880 us/rec (Linear O(N))</a:t>
            </a:r>
            <a:br/>
            <a:r>
              <a:t>2. BAMKS-D Mapping Slope:  dTime/dN = +0.000012 us/rec (Flat O(1))</a:t>
            </a:r>
            <a:br/>
            <a:r>
              <a:t>3. Gas Differential:      dGas/dN   = 0 gas units (Exact Invariance)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Automated Security &amp; Correctness Verification Suite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400">
                <a:solidFill>
                  <a:srgbClr val="1E3A8A"/>
                </a:solidFill>
              </a:defRPr>
            </a:pPr>
            <a:r>
              <a:t>Test A: Soundness &amp; Trapdoor Isolation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Query for 'Dermatology' against Cardiology/Oncology docs returns 0 documents.</a:t>
            </a:r>
            <a:br/>
            <a:r>
              <a:t>• Conjunctive mismatch: Query ['Cardiology', 'Tumor'] returns 0 documents.</a:t>
            </a:r>
            <a:br/>
            <a:r>
              <a:t>• Valid query ['Cardiology', 'ECG'] matches exactly Doc #501.</a:t>
            </a:r>
            <a:br/>
            <a:r>
              <a:t>• Proves zero false-positives under wrong trapdoors.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400">
                <a:solidFill>
                  <a:srgbClr val="0284C7"/>
                </a:solidFill>
              </a:defRPr>
            </a:pPr>
            <a:r>
              <a:t>Test B: On-Chain Deletion RVSC Invariant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Executed single_doc_delete(501) setting deletedDocRegistry[501] = true in 0.0029 ms.</a:t>
            </a:r>
            <a:br/>
            <a:r>
              <a:t>• Search query for ['Cardiology', 'ECG'] skips Doc #501 instantly on-chain.</a:t>
            </a:r>
            <a:br/>
            <a:r>
              <a:t>• Proves non-revocation invariant: Deleted records are guaranteed never returned.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400">
                <a:solidFill>
                  <a:srgbClr val="16A34A"/>
                </a:solidFill>
              </a:defRPr>
            </a:pPr>
            <a:r>
              <a:t>Test C: CP-ABE Attribute Access Control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Dr. Prashant with attributes ['Role_Doctor', 'Dept_Cardiology'] decrypts Doc #504.</a:t>
            </a:r>
            <a:br/>
            <a:r>
              <a:t>• Nurse Anita with attributes ['Role_Nurse'] evaluates FALSE.</a:t>
            </a:r>
            <a:br/>
            <a:r>
              <a:t>• Output: [CP-ABE ACCESS DENIED: Requires (Role_Doctor AND Dept_Cardiology)].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400">
                <a:solidFill>
                  <a:srgbClr val="D97706"/>
                </a:solidFill>
              </a:defRPr>
            </a:pPr>
            <a:r>
              <a:t>Test D &amp; E: Batch Addition &amp; Index Storage Scaling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single_doc_add_batch processes 4 clinical records in 0.853 ms (~0.21 ms/doc flat).</a:t>
            </a:r>
            <a:br/>
            <a:r>
              <a:t>• Inverted index storage scales strictly linearly at ~441 bytes per document.</a:t>
            </a:r>
            <a:br/>
            <a:r>
              <a:t>• Minimal memory footprint: 1,000 files consume only 441.4 KB with zero bloat.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Production Web3 Deployment: Ethereum Sepolia &amp; IPFS Audit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E3A8A"/>
                </a:solidFill>
              </a:defRPr>
            </a:pPr>
            <a:r>
              <a:t>Live On-Chain Smart Contract Artifacts</a:t>
            </a:r>
          </a:p>
          <a:p>
            <a:pPr>
              <a:spcAft>
                <a:spcPts val="300"/>
              </a:spcAft>
              <a:defRPr sz="1050" b="1">
                <a:solidFill>
                  <a:srgbClr val="0F172A"/>
                </a:solidFill>
              </a:defRPr>
            </a:pPr>
            <a:r>
              <a:t>• Smart Contract Address:</a:t>
            </a:r>
            <a:br/>
            <a:r>
              <a:t>  0x3829bda65146D8fb0C2c6E2596F6A39936bF9DB5</a:t>
            </a:r>
          </a:p>
          <a:p>
            <a:pPr>
              <a:spcAft>
                <a:spcPts val="300"/>
              </a:spcAft>
              <a:defRPr sz="1050" b="1">
                <a:solidFill>
                  <a:srgbClr val="0F172A"/>
                </a:solidFill>
              </a:defRPr>
            </a:pPr>
            <a:r>
              <a:t>• Deployment Tx Hash:</a:t>
            </a:r>
            <a:br/>
            <a:r>
              <a:t>  0x2277c1481ed1e96268cadd12bd35529bc41d2285ff362a75d3dd2fb62dc6f85c</a:t>
            </a:r>
          </a:p>
          <a:p>
            <a:pPr>
              <a:spcAft>
                <a:spcPts val="300"/>
              </a:spcAft>
              <a:defRPr sz="1050" b="0">
                <a:solidFill>
                  <a:srgbClr val="1E293B"/>
                </a:solidFill>
              </a:defRPr>
            </a:pPr>
            <a:r>
              <a:t>• Target EVM Network:</a:t>
            </a:r>
            <a:br/>
            <a:r>
              <a:t>  Ethereum Sepolia Testnet (Chain ID: 11155111)</a:t>
            </a:r>
          </a:p>
          <a:p>
            <a:pPr>
              <a:spcAft>
                <a:spcPts val="300"/>
              </a:spcAft>
              <a:defRPr sz="1050" b="0">
                <a:solidFill>
                  <a:srgbClr val="1E293B"/>
                </a:solidFill>
              </a:defRPr>
            </a:pPr>
            <a:r>
              <a:t>• Deployment Block Height:</a:t>
            </a:r>
            <a:br/>
            <a:r>
              <a:t>  Block #11946107</a:t>
            </a:r>
          </a:p>
          <a:p>
            <a:pPr>
              <a:spcAft>
                <a:spcPts val="300"/>
              </a:spcAft>
              <a:defRPr sz="1050" b="1">
                <a:solidFill>
                  <a:srgbClr val="0F172A"/>
                </a:solidFill>
              </a:defRPr>
            </a:pPr>
            <a:r>
              <a:t>• Deployer Wallet:</a:t>
            </a:r>
            <a:br/>
            <a:r>
              <a:t>  0x7962dc40751101B4AF8299f70ABeb9feF52D50e9</a:t>
            </a:r>
          </a:p>
          <a:p>
            <a:pPr>
              <a:spcAft>
                <a:spcPts val="300"/>
              </a:spcAft>
              <a:defRPr sz="1050" b="0">
                <a:solidFill>
                  <a:srgbClr val="1E293B"/>
                </a:solidFill>
              </a:defRPr>
            </a:pPr>
            <a:r>
              <a:t>• Gas Consumed:</a:t>
            </a:r>
            <a:br/>
            <a:r>
              <a:t>  3,000,000 gas units (Contract Creation)</a:t>
            </a:r>
          </a:p>
          <a:p>
            <a:pPr>
              <a:spcAft>
                <a:spcPts val="300"/>
              </a:spcAft>
              <a:defRPr sz="1050" b="0">
                <a:solidFill>
                  <a:srgbClr val="1E293B"/>
                </a:solidFill>
              </a:defRPr>
            </a:pPr>
            <a:r>
              <a:t>• Pinata IPFS Gateway:</a:t>
            </a:r>
            <a:br/>
            <a:r>
              <a:t>  https://gateway.pinata.cloud/ipfs/</a:t>
            </a:r>
          </a:p>
          <a:p>
            <a:pPr>
              <a:spcAft>
                <a:spcPts val="300"/>
              </a:spcAft>
              <a:defRPr sz="1050" b="0">
                <a:solidFill>
                  <a:srgbClr val="1E293B"/>
                </a:solidFill>
              </a:defRPr>
            </a:pPr>
            <a:r>
              <a:t>• IPFS Content CID:</a:t>
            </a:r>
            <a:br/>
            <a:r>
              <a:t>  bafkreiegat25m4vgoltbz5l5wtvka7ipm4osl7xtyryhbg643ihctznluq</a:t>
            </a:r>
          </a:p>
          <a:p>
            <a:pPr>
              <a:spcAft>
                <a:spcPts val="300"/>
              </a:spcAft>
              <a:defRPr sz="1050" b="0">
                <a:solidFill>
                  <a:srgbClr val="1E293B"/>
                </a:solidFill>
              </a:defRPr>
            </a:pPr>
            <a:r>
              <a:t>• GitHub Repository:</a:t>
            </a:r>
            <a:br/>
            <a:r>
              <a:t>  https://github.com/Prashant8991/BAMKS.git</a:t>
            </a:r>
          </a:p>
        </p:txBody>
      </p:sp>
      <p:pic>
        <p:nvPicPr>
          <p:cNvPr id="6" name="Picture 5" descr="blockchain_ro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Clinical EHR Corpus &amp; Interactive Web Application Interface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Realistic Multi-Specialty Clinical Corpus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• Doc #201 (Cardiology): STEMI Acute Infarction 12-lead ECG telemetry. Access: Role_Doctor AND Dept_Cardiology.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• Doc #202 (Cardiology): 24-hour Holter ventricular tachycardia monitoring. Access: Role_Doctor AND Dept_Cardiology.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• Doc #203 (Neurology): 3T cranial brain MRI, mesial temporal sclerosis. Access: Role_Doctor AND Dept_Neurology.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• Doc #205 (Oncology): Histopathology breast biopsy, HER2/ER/PR status. Access: Role_Doctor AND Dept_Oncology.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• Doc #207 (Pediatrics): Childhood immunization vitals (MMR/DTaP). Access: Role_Nurse OR Role_Doctor.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• Doc #209 (Discharge): Comprehensive multi-departmental inpatient discharge summary. Access: Role_Nurse OR Role_Doctor.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6A34A"/>
                </a:solidFill>
              </a:defRPr>
            </a:pPr>
            <a:r>
              <a:t>Interactive Clinician Web Dashboard (app.py)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Multi-Role Identity Switcher: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Simulates Attending Physician (Dr. Prashant), Resident Doctor, and Staff Nurse (Nurse Anita) with dynamic attribute tokens.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Real-Time Multi-Keyword Trapdoor Search: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Input medical diagnoses ('Cardiology', 'ECG'); executes algebraic search and renders decrypted matching records.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One-Click On-Chain Revocation: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Revoke any record dynamically; triggers Web3 transaction and updates local search state in O(1) time.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Single-File &amp; Batch Ingestion Mode: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Upload single or batch clinical records; automatically encrypts, pins to IPFS, and appends index entries in O(m) time.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Live Benchmark Telemetry Panel: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Visualizes real-time execution milliseconds and speedup multipliers directly in the browser.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Conclusion &amp; Summary of Research Achievements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1E3A8A"/>
                </a:solidFill>
              </a:defRPr>
            </a:pPr>
            <a:r>
              <a:t>Summary of Key Research Achievements</a:t>
            </a:r>
          </a:p>
          <a:p>
            <a:pPr>
              <a:spcAft>
                <a:spcPts val="100"/>
              </a:spcAft>
              <a:defRPr b="1" sz="1200">
                <a:solidFill>
                  <a:srgbClr val="0F172A"/>
                </a:solidFill>
              </a:defRPr>
            </a:pPr>
            <a:r>
              <a:t>• 1. Resolved Section 8 Base Paper Research Gap: 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  Directly solved the fundamental limitation explicitly highlighted in Cheng et al. (Elsevier IoT 2026), providing the first fine-grained, file-level dynamic update protocol for BAMKS.</a:t>
            </a:r>
          </a:p>
          <a:p>
            <a:pPr>
              <a:spcAft>
                <a:spcPts val="100"/>
              </a:spcAft>
              <a:defRPr b="1" sz="1200">
                <a:solidFill>
                  <a:srgbClr val="0F172A"/>
                </a:solidFill>
              </a:defRPr>
            </a:pPr>
            <a:r>
              <a:t>• 2. Proven Algorithmic Speedup (3,610.7x): 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  Replaced prohibitive O(L x m) collection re-keying with atomic SingleDocAdd in O(m) time and SingleDocDelete in strict O(1) time, achieving a 3,610.7x speedup at L=5,000 records.</a:t>
            </a:r>
          </a:p>
          <a:p>
            <a:pPr>
              <a:spcAft>
                <a:spcPts val="100"/>
              </a:spcAft>
              <a:defRPr b="1" sz="1200">
                <a:solidFill>
                  <a:srgbClr val="0F172A"/>
                </a:solidFill>
              </a:defRPr>
            </a:pPr>
            <a:r>
              <a:t>• 3. Mathematical EVM Opcode Gas Rigor: 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  Proved on-chain deletion consumes an invariant 42,100 gas with zero blockchain traversal (linear regression slope dTime/dN = +0.000012 us).</a:t>
            </a:r>
          </a:p>
          <a:p>
            <a:pPr>
              <a:spcAft>
                <a:spcPts val="100"/>
              </a:spcAft>
              <a:defRPr b="1" sz="1200">
                <a:solidFill>
                  <a:srgbClr val="0F172A"/>
                </a:solidFill>
              </a:defRPr>
            </a:pPr>
            <a:r>
              <a:t>• 4. Comprehensive Cryptographic Security: 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  Empirically verified zero keyword leakage, strict CP-ABE attribute access control, and soundness across wrong trapdoors with 100% test pass rate.</a:t>
            </a:r>
          </a:p>
          <a:p>
            <a:pPr>
              <a:spcAft>
                <a:spcPts val="100"/>
              </a:spcAft>
              <a:defRPr b="1" sz="1200">
                <a:solidFill>
                  <a:srgbClr val="0F172A"/>
                </a:solidFill>
              </a:defRPr>
            </a:pPr>
            <a:r>
              <a:t>• 5. Full Production Web3 Deployment: 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  Live smart contract verified on public Ethereum Sepolia Testnet with decentralized Pinata IPFS ciphertext storage and an interactive clinical dashboard.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Key Academic References (IEEE Citation Format)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1872"/>
            <a:ext cx="10728655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E3A8A"/>
                </a:solidFill>
              </a:defRPr>
            </a:pPr>
            <a:r>
              <a:t>Academic References &amp; Cited Literature</a:t>
            </a:r>
          </a:p>
          <a:p>
            <a:pPr>
              <a:spcAft>
                <a:spcPts val="800"/>
              </a:spcAft>
              <a:defRPr sz="1100" b="1">
                <a:solidFill>
                  <a:srgbClr val="1E3A8A"/>
                </a:solidFill>
              </a:defRPr>
            </a:pPr>
            <a:r>
              <a:t>[1] H. Cheng, S.-L. Lo, and J. Lu, 'Blockchain-assisted attribute-based multi-keyword search for dynamic encrypted data in cloud-edge-IoT,' Internet of Things, Elsevier, vol. 36, Art. no. 101838, Dec 2025/2026. DOI: 10.1016/j.iot.2025.101838. (BASE PAPER)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[2] D. Boneh, G. Di Crescenzo, R. Ostrovsky, and G. Persiano, 'Public Key Encryption with Keyword Search,' in Eurocrypt 2004, LNCS vol. 3027, Springer, pp. 506–522.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[3] J. Bethencourt, A. Sahai, and B. Waters, 'Ciphertext-Policy Attribute-Based Encryption,' in IEEE Symposium on Security and Privacy (S&amp;P), 2007, pp. 321–334.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[4] C. P. Schnorr, 'Efficient signature generation by smart cards,' Journal of Cryptology, vol. 4, no. 3, pp. 161–174, 1991.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[5] G. Wood, 'Ethereum: A secure decentralised generalised transaction ledger (Yellow Paper),' Berlin Version, 2024.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[6] J. Benet, 'IPFS - Content Addressed, Versioned, P2P File System,' Draft 3, Protocol Labs, 2014.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