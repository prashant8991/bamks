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VELLORE INSTITUTE OF TECHNOLOGY (VIT), CHENNAI</a:t>
            </a:r>
          </a:p>
          <a:p>
            <a:pPr>
              <a:spcAft>
                <a:spcPts val="1800"/>
              </a:spcAft>
              <a:defRPr sz="1300">
                <a:solidFill>
                  <a:srgbClr val="64748B"/>
                </a:solidFill>
                <a:latin typeface="Arial"/>
              </a:defRPr>
            </a:pPr>
            <a:r>
              <a:t>BCSE309L — Cryptography and Network Security | Review 3 Final Evaluation</a:t>
            </a:r>
          </a:p>
          <a:p>
            <a:pPr>
              <a:spcAft>
                <a:spcPts val="14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BAMKS-D: Enabling Dynamic File-Level Operations in Blockchain-Assisted ABKS for Cloud-Edge-IoT</a:t>
            </a:r>
          </a:p>
          <a:p>
            <a:pPr>
              <a:spcAft>
                <a:spcPts val="2800"/>
              </a:spcAft>
              <a:defRPr sz="1400" i="1">
                <a:solidFill>
                  <a:srgbClr val="94A3B8"/>
                </a:solidFill>
                <a:latin typeface="Arial"/>
              </a:defRPr>
            </a:pPr>
            <a:r>
              <a:t>An Algorithmic Prototype &amp; Architecture Integration Layer Resolving Section 8 of Cheng et al. (Elsevier IoT 2026)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Student Researchers:</a:t>
            </a:r>
            <a:br/>
            <a:r>
              <a:t>• Prashant Singh (Reg. No: 24BYB1042) — Protocol Simulation, Dynamic Indexing &amp; REST API</a:t>
            </a:r>
            <a:br/>
            <a:r>
              <a:t>• Rushikesh Adak (Reg. No: 24BYB1055) — Solidity Smart Contracts, EVM Gas Analysis &amp; Web3 Integration</a:t>
            </a:r>
            <a:br/>
            <a:br/>
            <a:r>
              <a:t>Faculty Guide: Prof. Karthika V | School of Computer Science &amp; Engineering 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Research Context: Healthcare IoT &amp; Encrypted Search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E3A8A"/>
                </a:solidFill>
              </a:defRPr>
            </a:pPr>
            <a:r>
              <a:t>Cloud-Edge Healthcare IoT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IoMT telemetry (ECG, vitals, MRI scans) requires secure cloud archiving.</a:t>
            </a:r>
            <a:br/>
            <a:r>
              <a:t>• Regulatory compliance (HIPAA, GDPR) mandates end-to-end encryption.</a:t>
            </a:r>
            <a:br/>
            <a:r>
              <a:t>• Challenge: Cloud servers must enable search without learning plaintexts.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284C7"/>
                </a:solidFill>
              </a:defRPr>
            </a:pPr>
            <a:r>
              <a:t>Attribute-Based Keyword Search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CP-ABE embeds access policies directly inside ciphertexts.</a:t>
            </a:r>
            <a:br/>
            <a:r>
              <a:t>• Clinicians decrypt only if their credentials satisfy access policies.</a:t>
            </a:r>
            <a:br/>
            <a:r>
              <a:t>• Conjunctive multi-keyword trapdoors enable multi-attribute diagnosis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6A34A"/>
                </a:solidFill>
              </a:defRPr>
            </a:pPr>
            <a:r>
              <a:t>Blockchain Result Verifiability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Dishonest CSPs may return incomplete or stale search results.</a:t>
            </a:r>
            <a:br/>
            <a:r>
              <a:t>• Smart contracts verify aggregated Schnorr NIZK proofs.</a:t>
            </a:r>
            <a:br/>
            <a:r>
              <a:t>• Ethereum acts as an immutable arbiter enforcing state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Research Gap: The Open Challenge in Cheng et al. (Section 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DC2626"/>
                </a:solidFill>
              </a:defRPr>
            </a:pPr>
            <a:r>
              <a:t>Foundational Limitation in Base BAMKS [1]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Base Paper Architecture: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Cheng et al. (Elsevier IoT, 2026) successfully established multi-authority ABE and blockchain result verification.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Monolithic Collection Overhead: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Section 5.10 specifies index updates by multiplying X_upd across all L*m existing index entries (O(L*m)). Alternatively, full re-indexing requires re-encrypting all files.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Prohibitive at Scale: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For L = 5,000 files and m = 3 keywords, updating 15,000 entries consumes significant computation for every single file appended.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Explicit Research Call: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Section 8 explicitly identifies fine-grained dynamic file updates as an open research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6A34A"/>
                </a:solidFill>
              </a:defRPr>
            </a:pPr>
            <a:r>
              <a:t>The Proposed BAMKS-D Resolution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✓ Atomic SingleDocAdd (O(m)):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Decouples the inverted keyword index so appending a record requires generating tokens only for its m keywords (~0.67 ms flat at L=5,000).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✓ Instant SingleDocDelete (O(1)):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Solidity hash mapping (deletedDocRegistry) executes constant-time revocation with zero array traversal.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✓ Fair Baseline Comparison: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Evaluates speedup against both naive re-encryption and true Cheng et al. Section 5.10 index updates across 30 runs.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✓ Live Web3 Sepolia Deployment: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Smart contract deployed and verified on Ethereum Sepolia Testnet with real transaction receipts.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BAMKS-D System Architecture &amp; Seven-Entity Topology</a:t>
            </a:r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400800" cy="34671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06640" y="1463040"/>
            <a:ext cx="402336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6002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Seven System Entities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1. KGC: Initializes global parameters and master secrets.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2. AA (Authorities): Issue attribute private keys to clinical users.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3. Data Owners: Encrypt EHRs, upload to IPFS, compute index tokens.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4. Data Users: Generate search trapdoors and decrypt matching EHRs.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5. CSP (Cloud): Maintains inverted index and executes conjunctive matching.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6. Ethereum Sepolia: Smart contract enforcing instant deletion registry.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7. IPFS / Pinata: Content-addressed storage for encrypted medical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Atomic File Ingestion: SingleDocAdd Protocol (O(m))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SingleDocAdd: Decoupled Index Ingestion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Step 1: AES-256-GCM Payload Encryption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Key derived via KDF(Phi, verId). Encrypts file payload with fresh 96-bit nonce.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Step 2: IPFS Decentralized Pinning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Uploads encrypted payload to IPFS, retrieving content identifier (CID).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Step 3: Keyword Index Token Generation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For each keyword w_j in W_doc:</a:t>
            </a:r>
            <a:br/>
            <a:r>
              <a:t>  I_doc,j = g^(eta * H1(w_j)) mod P</a:t>
            </a:r>
            <a:br/>
            <a:r>
              <a:t>Computes index key Key_j = H2('tok_' || I_doc,j).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Step 4: Autonomous Index Append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Appends index tokens to cloud index. Zero existing documents are touched.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Step 5: On-Chain Root Registration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Calls registerDocument(docId, fileHash, publicTag) on Sepolia contract.</a:t>
            </a:r>
          </a:p>
        </p:txBody>
      </p:sp>
      <p:pic>
        <p:nvPicPr>
          <p:cNvPr id="5" name="Picture 4" descr="encryption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66130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Instant File Revocation: SingleDocDelete &amp; EVM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SingleDocDelete: Strict O(1) Solidity Revocation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Why Array Traversal Fails on Blockchain: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Iterating arrays on-chain scales linearly (O(N) gas), risking transaction failure as N expands.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Solidity Hash-Table State Mapping: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BAMKS_Registry.sol uses:</a:t>
            </a:r>
            <a:br/>
            <a:r>
              <a:t>`mapping(uint256 =&gt; bool) public deletedDocRegistry;`</a:t>
            </a:r>
            <a:br/>
            <a:r>
              <a:t>EVM mappings do NOT iterate over array elements.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Direct EVM Keccak256 Slot Addressing: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EVM computes storage location directly:</a:t>
            </a:r>
            <a:br/>
            <a:r>
              <a:t>Slot = keccak256(abi.encode(docId, slotNumber))</a:t>
            </a:r>
            <a:br/>
            <a:r>
              <a:t>Sets boolean true in a single storage write.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RVSC Invariant Enforcement: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Smart contract enforces `require(!deletedDocRegistry[id])`, ensuring revoked documents cannot be returned.</a:t>
            </a:r>
          </a:p>
        </p:txBody>
      </p:sp>
      <p:pic>
        <p:nvPicPr>
          <p:cNvPr id="5" name="Picture 4" descr="revocation_mechanis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27559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Conjunctive Multi-Keyword Search &amp; Algebraic Matching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Algebraic Match Evaluation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Query Trapdoor Generation: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User samples session secret phi in Z_P* and computes:</a:t>
            </a:r>
            <a:br/>
            <a:r>
              <a:t>  T1 = g^phi mod P</a:t>
            </a:r>
            <a:br/>
            <a:r>
              <a:t>  T3 = g^(phi * sum(H1(w~_j))) mod P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Cloud Modular Evaluation (Eq. 6):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Cloud server aggregates candidate index tokens:</a:t>
            </a:r>
            <a:br/>
            <a:r>
              <a:t>  I_prod = prod(I_doc,j) mod P</a:t>
            </a:r>
            <a:br/>
            <a:r>
              <a:t>And verifies the algebraic equality:</a:t>
            </a:r>
            <a:br/>
            <a:r>
              <a:t>  (I_prod)^phi == (T3)^eta mod P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Soundness Guarantee: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Equality holds if and only if the document contains ALL q query keywords. Mismatched queries evaluate false with high probability.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Schnorr NIZK Aggregation: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Off-chain proof (R, pi_hat) guarantees search correctness without exposing clinician attributes.</a:t>
            </a:r>
          </a:p>
        </p:txBody>
      </p:sp>
      <p:pic>
        <p:nvPicPr>
          <p:cNvPr id="5" name="Picture 4" descr="search_decrypt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6613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Attribute-Based Access Control (CP-ABE Policy Modeling)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6A34A"/>
                </a:solidFill>
              </a:defRPr>
            </a:pPr>
            <a:r>
              <a:t>Access Policy Modeling &amp; Evaluation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Access Policy Binding: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Every clinical document is bound to an access policy (e.g., Role_Doctor AND Dept_Cardiology).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Attribute Authority Secret Delegation: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AAs manage distinct attribute sets and issue private keys to verified clinicians.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Simulated Policy Checking (Prototype Scope):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In this software prototype, policy satisfaction is evaluated via attribute set evaluation logic before payload decryption.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Empirical Test Suite Validation (Test C):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• Dr. Prashant [Doctor, Cardiology] -&gt; Access Granted (Decrypted).</a:t>
            </a:r>
            <a:br/>
            <a:r>
              <a:t>• Nurse Anita [Nurse, GeneralWard] -&gt; Access Denied (Policy Mismatch).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Collusion Resistance Invariant: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</a:defRPr>
            </a:pPr>
            <a:r>
              <a:t>  Session randomness t in KeyGen prevents unauthorized users from combining keys.</a:t>
            </a:r>
          </a:p>
        </p:txBody>
      </p:sp>
      <p:pic>
        <p:nvPicPr>
          <p:cNvPr id="5" name="Picture 4" descr="cpabe_access_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27559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Empirical Benchmark: Naive vs. Cheng et al. vs. BAMKS-D</a:t>
            </a:r>
          </a:p>
        </p:txBody>
      </p:sp>
      <p:pic>
        <p:nvPicPr>
          <p:cNvPr id="3" name="Picture 2" descr="chart_scalability_multi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64453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463040"/>
          <a:ext cx="4846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097280"/>
                <a:gridCol w="914400"/>
                <a:gridCol w="822960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(Files)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Naive Re-enc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Cheng et al. [1]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BAMKS-D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 =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20.31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0.084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0.409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0.21x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 =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42.89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0.164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0.447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0.37x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 =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228.79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0.816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0.533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1.53x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 = 1,000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467.08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1.559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0.486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3.20x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 = 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2,363.01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8.112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0.670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12.11x</a:t>
                      </a:r>
                    </a:p>
                  </a:txBody>
                  <a:tcPr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0" y="4937760"/>
            <a:ext cx="484632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49834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6A34A"/>
                </a:solidFill>
              </a:defRPr>
            </a:pPr>
            <a:r>
              <a:t>HONEST BENCHMARK ANALYSIS (m=3, 30 Runs, Intel i5-13420H):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For L &lt;= 100, Cheng et al. index multiplication is faster than single-file AES encryption.</a:t>
            </a:r>
            <a:br/>
            <a:r>
              <a:t>• Crossover occurs at L ~ 300 files; at L=5,000, BAMKS-D achieves 12.11x speedup over Cheng et al. (and 3,527.7x over naive re-encryption).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EVM Gas Schedule &amp; Verified Ethereum Sepolia Receipts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Theoretical Minimal Opcode Schedule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Base Transaction Fee: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21,000 gas (Standard EVM baseline).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CALLDATALOAD + KECCAK256: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3 + 30 gas (Direct slot calculation: keccak256(docId, slotNumber)).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SSTORE (deletedDocRegistry):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20,000 gas (0 to 1 cold slot storage write).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SSTORE (fileRegistry.isDeleted):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5,000 gas (Warm slot update on existing metadata struct).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LOG3 (DocumentDeleted):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1,500 gas (Event base + 3 indexed topics + timestamp).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Overhead (JUMP, stack):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~200 gas -&gt; Total Theoretical: ~47,733 gas.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Live Mined Receipts on Ethereum Sepolia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Contract Address: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0xfDC8615Bf6483c3B0f39c330F55A56Cb0f08C8D3 (solc 0.8.20)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Deployment Transaction: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Tx: 0x1f058b... in Block #11975268</a:t>
            </a:r>
            <a:br/>
            <a:r>
              <a:t>Gas Used: 6,889,229 gas units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deleteDocument(101) Receipt: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Tx: 0x008330... in Block #11975278</a:t>
            </a:r>
            <a:br/>
            <a:r>
              <a:t>Receipt Gas: 242,834 gas | Confirmation: 21.83 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registerDocument(101) Receipt: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Tx: 0x363d3e... in Block #11975277</a:t>
            </a:r>
            <a:br/>
            <a:r>
              <a:t>Receipt Gas: 792,245 gas | Confirmation: 35.22 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Why Real Gas Exceeds Opcode Minima: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Solidity function selector hashing, memory allocation, struct ABI encoding, and non-optimized compiler dispatch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Automated Security &amp; Correctness Verification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E3A8A"/>
                </a:solidFill>
              </a:defRPr>
            </a:pPr>
            <a:r>
              <a:t>Test A: Soundness &amp; Trapdoor Isolation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Query for 'Dermatology' against Cardiology/Oncology docs returns 0 documents.</a:t>
            </a:r>
            <a:br/>
            <a:r>
              <a:t>• Conjunctive mismatch: Query ['Cardiology', 'Tumor'] returns 0 documents.</a:t>
            </a:r>
            <a:br/>
            <a:r>
              <a:t>• Valid query ['Cardiology', 'ECG'] matches exactly Doc #101.</a:t>
            </a:r>
            <a:br/>
            <a:r>
              <a:t>• Proves zero false-positives under wrong trapdoors.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0284C7"/>
                </a:solidFill>
              </a:defRPr>
            </a:pPr>
            <a:r>
              <a:t>Test B: On-Chain Deletion RVSC Invariant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Executed single_doc_delete(101) setting deletedDocRegistry[101] = true.</a:t>
            </a:r>
            <a:br/>
            <a:r>
              <a:t>• Search query for ['Cardiology', 'ECG'] skips Doc #101 instantly.</a:t>
            </a:r>
            <a:br/>
            <a:r>
              <a:t>• Proves non-revocation invariant: Revoked records are excluded from result 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6A34A"/>
                </a:solidFill>
              </a:defRPr>
            </a:pPr>
            <a:r>
              <a:t>Test C: CP-ABE Attribute Access Control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Dr. Prashant with attributes ['Role_Doctor', 'Dept_Cardiology'] decrypts record.</a:t>
            </a:r>
            <a:br/>
            <a:r>
              <a:t>• Nurse Anita with attributes ['Role_Nurse'] evaluates FALSE.</a:t>
            </a:r>
            <a:br/>
            <a:r>
              <a:t>• Output: [CP-ABE ACCESS DENIED: Requires (Role_Doctor AND Dept_Cardiology)].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D97706"/>
                </a:solidFill>
              </a:defRPr>
            </a:pPr>
            <a:r>
              <a:t>Test D &amp; E: Batch Addition &amp; Index Storage Scaling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single_doc_add_batch processes 4 clinical records in 0.852 ms (~0.21 ms/doc flat).</a:t>
            </a:r>
            <a:br/>
            <a:r>
              <a:t>• Inverted index storage scales strictly linearly at 452.0 bytes per added document.</a:t>
            </a:r>
            <a:br/>
            <a:r>
              <a:t>• Baseline 8 records: 4,098 bytes (512.2 B/doc including schema metadata).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Production Web3 Deployment: Sepolia &amp; IPFS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Verified On-Chain Deployment Artifacts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</a:defRPr>
            </a:pPr>
            <a:r>
              <a:t>• Smart Contract Address:</a:t>
            </a:r>
            <a:br/>
            <a:r>
              <a:t>  0xfDC8615Bf6483c3B0f39c330F55A56Cb0f08C8D3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</a:defRPr>
            </a:pPr>
            <a:r>
              <a:t>• Deployment Transaction:</a:t>
            </a:r>
            <a:br/>
            <a:r>
              <a:t>  0x1f058bde75b20c2d1ce513897d77d70f47a2951cbcc83d9bc45a573116bf0dbf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</a:defRPr>
            </a:pPr>
            <a:r>
              <a:t>• Deployment Block &amp; Gas:</a:t>
            </a:r>
            <a:br/>
            <a:r>
              <a:t>  Block #11975268 | Gas Used: 6,889,229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</a:defRPr>
            </a:pPr>
            <a:r>
              <a:t>• Target Network:</a:t>
            </a:r>
            <a:br/>
            <a:r>
              <a:t>  Ethereum Sepolia Testnet (Chain ID: 11155111)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</a:defRPr>
            </a:pPr>
            <a:r>
              <a:t>• registerDocument(101) Tx:</a:t>
            </a:r>
            <a:br/>
            <a:r>
              <a:t>  0x363d3e8867adb49a2657b798ebb26990a5d0011ec5ddaf7de267ff191dc40ad7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</a:defRPr>
            </a:pPr>
            <a:r>
              <a:t>• deleteDocument(101) Tx:</a:t>
            </a:r>
            <a:br/>
            <a:r>
              <a:t>  0x008330a08b3ad8926b19de8dc0a1b386b95712dc55077e33df2a36685c876e8d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</a:defRPr>
            </a:pPr>
            <a:r>
              <a:t>• Pinata IPFS Gateway CID:</a:t>
            </a:r>
            <a:br/>
            <a:r>
              <a:t>  bafkreiegat25m4vgoltbz5l5wtvka7ipm4osl7xtyryhbg643ihctznluq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</a:defRPr>
            </a:pPr>
            <a:r>
              <a:t>• Public GitHub Repo:</a:t>
            </a:r>
            <a:br/>
            <a:r>
              <a:t>  https://github.com/Prashant8991/BAMKS.git</a:t>
            </a:r>
          </a:p>
        </p:txBody>
      </p:sp>
      <p:pic>
        <p:nvPicPr>
          <p:cNvPr id="5" name="Picture 4" descr="blockchain_r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4937760" cy="27559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Clinical EHR Corpus &amp; Interactive Clinician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E3A8A"/>
                </a:solidFill>
              </a:defRPr>
            </a:pPr>
            <a:r>
              <a:t>Multi-Specialty Clinical EHR Corpus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#201 (Cardiology): STEMI Acute Infarction 12-lead ECG telemetry text.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#202 (Cardiology): 24-hour Holter ventricular tachycardia JSON stream.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#203 (Neurology): 3T cranial brain MRI, temporal sclerosis report.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#204 (Neurology): Stroke perfusion biomarker lab CSV data.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#205 (Oncology): Histopathology breast biopsy, HER2/ER/PR pathology.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#207 (Pediatrics): Childhood immunization vitals and vaccination table.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</a:defRPr>
            </a:pPr>
            <a:r>
              <a:t>• Doc #209 (Discharge): Comprehensive multi-departmental inpatient summary.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6A34A"/>
                </a:solidFill>
              </a:defRPr>
            </a:pPr>
            <a:r>
              <a:t>Interactive Clinician Dashboard (app.py)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✓ Identity Switcher: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Switch between Attending Physician (Dr. Prashant) and Staff Nurse (Nurse Anita) with dynamic attribute tokens.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✓ Multi-Keyword Search: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Input medical keywords ('Cardiology', 'ECG'); executes conjunctive match and renders decrypted records.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✓ One-Click On-Chain Revocation: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Revoke any record; updates on-chain registry and excludes record from search in real time.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✓ Single-File &amp; Batch Ingestion: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Encrypts and uploads files to IPFS and adds index tokens in O(m) time.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✓ Live Telemetry Panel: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  Visualizes real-time execution milliseconds and latency metrics directly in browser.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Prototype Scope, Assumptions &amp; Threats to Validity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D97706"/>
                </a:solidFill>
              </a:defRPr>
            </a:pPr>
            <a:r>
              <a:t>Transparent Limitations &amp; Architectural Trade-offs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1. Simulated Group Algebra: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Field operations evaluated in (Z_P*, *) with secp256k1 prime P. Order is P-1 (composite); pairing e(g,g) is simulated via modular exponentiation. Production deployment requires Type-III pairing groups (e.g., BN254 / BLS12-381).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2. CSP Search Separation in Prototype: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In the demonstration test script, the CSP receives eta and phi directly to evaluate modular match equations. Production pairing eliminates this requirement.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3. Inverted Index Access-Pattern Leakage: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Keyword tokens I_doc,j = g^(eta * H1(w_j)) are deterministic across documents. The CSP can observe document frequency and search patterns over time. Forward-private DSSE is future work.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4. Simulated Policy Checking: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CP-ABE access policy satisfaction is evaluated via attribute set evaluation rather than full algebraic LSSS pairing engine.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5. Local vs. On-Chain Deletion Latency: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Local flag updates take &lt; 0.001 ms in memory; real Ethereum Sepolia block mining takes 21.83 s for deletion confirmation.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Conclusion &amp; Summary of Research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700">
                <a:solidFill>
                  <a:srgbClr val="1E3A8A"/>
                </a:solidFill>
              </a:defRPr>
            </a:pPr>
            <a:r>
              <a:t>Summary of Key Contributions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1. Addressed Section 8 Base Paper Research Gap: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Formulated an atomic file-level update mechanism for BAMKS, eliminating collection-wide re-keying bottlenecks.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2. Demonstrated Empirical Speedup (12.11x):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SingleDocAdd runs in O(m) time (~0.67 ms at L=5,000), achieving a 12.11x speedup over Cheng et al. Section 5.10 index updates (and 3,527.7x over naive full re-encryption).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3. On-Chain EVM Mapping Revocation (O(1)):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Solidity deletedDocRegistry mapping executes in constant time via keccak256 slot calculation with zero array traversal.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4. Live Ethereum Sepolia Deployment: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Smart contract deployed and verified on public Ethereum Sepolia Testnet (0xfDC8615Bf6483c3B0f39c330F55A56Cb0f08C8D3) with live mined transaction receipts.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5. Open-Source Reproducibility: 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  Complete source code, contracts, clinical dataset, and test scripts available at https://github.com/Prashant8991/BAMKS.git.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BCSE309L: CRYPTOGRAPHY &amp; NETWORK SECURITY | VIT CHENNAI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Key Academic References (IEEE Citation Format)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E3A8A"/>
                </a:solidFill>
              </a:defRPr>
            </a:pPr>
            <a:r>
              <a:t>Key Academic References</a:t>
            </a:r>
          </a:p>
          <a:p>
            <a:pPr>
              <a:spcAft>
                <a:spcPts val="600"/>
              </a:spcAft>
              <a:defRPr sz="1000" b="1">
                <a:solidFill>
                  <a:srgbClr val="1E3A8A"/>
                </a:solidFill>
              </a:defRPr>
            </a:pPr>
            <a:r>
              <a:t>[1] H. Cheng, S.-L. Lo, and J. Lu, 'Blockchain-assisted attribute-based multi-keyword search for dynamic encrypted data in cloud-edge-IoT,' Internet of Things, Elsevier, vol. 36, Art. no. 101838, 2026. DOI: 10.1016/j.iot.2025.101838. (BASE PAPER)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[2] D. Boneh, G. Di Crescenzo, R. Ostrovsky, and G. Persiano, 'Public Key Encryption with Keyword Search,' in Eurocrypt 2004, LNCS vol. 3027, Springer, pp. 506–522.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[3] J. Bethencourt, A. Sahai, and B. Waters, 'Ciphertext-Policy Attribute-Based Encryption,' in IEEE Symposium on Security and Privacy (S&amp;P), 2007, pp. 321–334.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[4] C. P. Schnorr, 'Efficient signature generation by smart cards,' Journal of Cryptology, vol. 4, no. 3, pp. 161–174, 1991.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[5] G. Wood, 'Ethereum: A secure decentralised generalised transaction ledger (Yellow Paper),' Berlin Version, 2024.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[6] J. Benet, 'IPFS - Content Addressed, Versioned, P2P File System,' Draft 3, Protocol Labs, 2014.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[7] R. Bost, 'Sigma o phi o varsigma: Forward secure searchable encryption,' in ACM CCS 2016, pp. 1143–1154.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