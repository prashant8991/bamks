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  <a:latin typeface="Arial"/>
              </a:defRPr>
            </a:pPr>
            <a:r>
              <a:t>VELLORE INSTITUTE OF TECHNOLOGY (VIT), CHENNAI</a:t>
            </a:r>
          </a:p>
          <a:p>
            <a:pPr>
              <a:spcAft>
                <a:spcPts val="1800"/>
              </a:spcAft>
              <a:defRPr sz="1300">
                <a:solidFill>
                  <a:srgbClr val="64748B"/>
                </a:solidFill>
                <a:latin typeface="Arial"/>
              </a:defRPr>
            </a:pPr>
            <a:r>
              <a:t>BCSE309L — Cryptography and Network Security | Review 3 Final Evaluation</a:t>
            </a:r>
          </a:p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BAMKS-D: Enabling Dynamic File-Level Operations in Blockchain-Assisted ABKS for Cloud-Edge-IoT</a:t>
            </a:r>
          </a:p>
          <a:p>
            <a:pPr>
              <a:spcAft>
                <a:spcPts val="2800"/>
              </a:spcAft>
              <a:defRPr sz="1400" i="1">
                <a:solidFill>
                  <a:srgbClr val="94A3B8"/>
                </a:solidFill>
                <a:latin typeface="Arial"/>
              </a:defRPr>
            </a:pPr>
            <a:r>
              <a:t>An Algorithmic Prototype &amp; Architecture Integration Layer Resolving Section 8 of Cheng et al. (Elsevier IoT 2026)</a:t>
            </a:r>
          </a:p>
          <a:p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Student Researchers:</a:t>
            </a:r>
            <a:br/>
            <a:r>
              <a:t>• Prashant Singh (Reg. No: 24BYB1042) — Protocol Simulation, Dynamic Indexing &amp; REST API</a:t>
            </a:r>
            <a:br/>
            <a:r>
              <a:t>• Rushikesh Adak (Reg. No: 24BYB1055) — Solidity Smart Contracts, EVM Gas Analysis &amp; Web3 Integration</a:t>
            </a:r>
            <a:br/>
            <a:br/>
            <a:r>
              <a:t>Faculty Guide: Prof. Karthika V | School of Computer Science &amp; Engineering (SCOPE)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Research Context: Healthcare IoT &amp; Encrypted Search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1E3A8A"/>
                </a:solidFill>
              </a:defRPr>
            </a:pPr>
            <a:r>
              <a:t>Cloud-Edge Healthcare IoT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IoMT telemetry (ECG, vitals, MRI scans) requires secure cloud archiving.</a:t>
            </a:r>
            <a:br/>
            <a:r>
              <a:t>• Regulatory compliance (HIPAA, GDPR) mandates end-to-end encryption.</a:t>
            </a:r>
            <a:br/>
            <a:r>
              <a:t>• Challenge: Cloud servers must enable search without learning plaintexts.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284C7"/>
                </a:solidFill>
              </a:defRPr>
            </a:pPr>
            <a:r>
              <a:t>Attribute-Based Keyword Search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CP-ABE embeds access policies directly inside ciphertexts.</a:t>
            </a:r>
            <a:br/>
            <a:r>
              <a:t>• Clinicians decrypt only if their credentials satisfy access policies.</a:t>
            </a:r>
            <a:br/>
            <a:r>
              <a:t>• Conjunctive multi-keyword trapdoors enable multi-attribute diagnosis queries.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16A34A"/>
                </a:solidFill>
              </a:defRPr>
            </a:pPr>
            <a:r>
              <a:t>Blockchain Result Verifiability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Dishonest CSPs may return incomplete or stale search results.</a:t>
            </a:r>
            <a:br/>
            <a:r>
              <a:t>• Smart contracts verify aggregated Schnorr NIZK proofs.</a:t>
            </a:r>
            <a:br/>
            <a:r>
              <a:t>• Ethereum acts as an immutable arbiter enforcing state integrity.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Research Gap: The Open Challenge in Cheng et al. (Section 8)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DC2626"/>
                </a:solidFill>
              </a:defRPr>
            </a:pPr>
            <a:r>
              <a:t>Foundational Limitation in Base BAMKS [1]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Base Paper Architecture: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Cheng et al. (Elsevier IoT, 2026) established multi-authority ABE and blockchain result verification.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Monolithic Collection Overhead: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Section 5.10 specifies index updates by multiplying X_upd across all L*m existing index entries (O(L*m)). Full re-indexing requires re-encrypting all files.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Prohibitive at Scale: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For L = 5,000 files and m = 3 keywords, updating 15,000 entries consumes significant computation for every single file appended.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Explicit Research Call: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Section 8 explicitly identifies fine-grained dynamic file updates as an open research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6A34A"/>
                </a:solidFill>
              </a:defRPr>
            </a:pPr>
            <a:r>
              <a:t>The Proposed BAMKS-D Resolution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Atomic SingleDocAdd (O(m)):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Decouples inverted keyword index so appending a record requires generating tokens only for its m keywords (~0.34 ms full add at L=5,000).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Instant SingleDocDelete (O(1)):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Solidity hash mapping (deletedDocRegistry) executes constant-time revocation (50,111 EVM gas; zero array traversal).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Fair Baseline Comparison: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Evaluates speedup against both naive re-encryption and true Cheng et al. Section 5.10 index updates across 30 runs with warm-up discarded.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✓ Live Web3 Sepolia Deployment: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Smart contract deployed on Ethereum Sepolia Testnet with verified runtime bytecode and real transaction receipts.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BAMKS-D System Architecture &amp; Seven-Entity Topology</a:t>
            </a:r>
          </a:p>
        </p:txBody>
      </p:sp>
      <p:pic>
        <p:nvPicPr>
          <p:cNvPr id="3" name="Picture 2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400800" cy="34671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06640" y="1463040"/>
            <a:ext cx="402336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6002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Seven System Entities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1. KGC: Initializes global parameters and master secrets.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2. AA (Authorities): Issue attribute private keys to clinical users.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3. Data Owners: Encrypt EHRs, upload to IPFS, compute index tokens.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4. Data Users: Generate search trapdoors and decrypt matching EHRs.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5. CSP (Cloud): Maintains inverted index and executes conjunctive matching.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6. Ethereum Sepolia: Smart contract enforcing instant deletion registry.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7. IPFS / Pinata: Content-addressed storage for encrypted medical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Atomic File Ingestion: SingleDocAdd Protocol (O(m))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SingleDocAdd: Decoupled Index Ingestion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1: AES-256-GCM Payload Encryption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Key derived via KDF(Phi, verId). Encrypts file payload with fresh 96-bit nonce.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2: IPFS Decentralized Pinning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Uploads encrypted payload to IPFS, retrieving content identifier (CID).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3: Keyword Index Token Generation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For each keyword w_j in W_doc:</a:t>
            </a:r>
            <a:br/>
            <a:r>
              <a:t>  I_doc,j = g^(eta * H1(w_j)) mod P</a:t>
            </a:r>
            <a:br/>
            <a:r>
              <a:t>Computes index key Key_j = H2('tok_' || I_doc,j).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4: Autonomous Index Append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Appends index tokens to cloud index. Zero existing documents are touched.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Step 5: On-Chain Root Registration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Calls registerDocument(docId, fileHash, publicTag) on Sepolia contract.</a:t>
            </a:r>
          </a:p>
        </p:txBody>
      </p:sp>
      <p:pic>
        <p:nvPicPr>
          <p:cNvPr id="5" name="Picture 4" descr="encryption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66130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Instant File Revocation: SingleDocDelete &amp; EVM Mapping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284C7"/>
                </a:solidFill>
              </a:defRPr>
            </a:pPr>
            <a:r>
              <a:t>SingleDocDelete: Strict O(1) Solidity Revocation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Why Array Traversal Fails on Blockchain: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Iterating arrays on-chain scales linearly (O(N) gas), risking transaction exhaustion as N expands.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Solidity Hash-Table State Mapping: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BAMKS_Registry.sol uses:</a:t>
            </a:r>
            <a:br/>
            <a:r>
              <a:t>`mapping(uint256 =&gt; bool) public deletedDocRegistry;`</a:t>
            </a:r>
            <a:br/>
            <a:r>
              <a:t>EVM mappings do NOT iterate over array elements.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Direct EVM Keccak256 Slot Addressing: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EVM computes storage location directly:</a:t>
            </a:r>
            <a:br/>
            <a:r>
              <a:t>Slot = keccak256(abi.encode(docId, slotNumber))</a:t>
            </a:r>
            <a:br/>
            <a:r>
              <a:t>Sets boolean true in a single storage write.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RVSC Invariant Enforcement: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Smart contract enforces `require(!deletedDocRegistry[id])`, ensuring revoked documents cannot be returned.</a:t>
            </a:r>
          </a:p>
        </p:txBody>
      </p:sp>
      <p:pic>
        <p:nvPicPr>
          <p:cNvPr id="5" name="Picture 4" descr="revocation_mechanis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Conjunctive Multi-Keyword Search &amp; Algebraic Matching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Algebraic Match Evaluation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Query Trapdoor Generation: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User samples session secret phi in Z_P* and computes:</a:t>
            </a:r>
            <a:br/>
            <a:r>
              <a:t>  T1 = g^phi mod P</a:t>
            </a:r>
            <a:br/>
            <a:r>
              <a:t>  T3 = g^(phi * sum(H1(w~_j))) mod P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Cloud Modular Evaluation (Eq. 6):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Cloud server aggregates candidate index tokens:</a:t>
            </a:r>
            <a:br/>
            <a:r>
              <a:t>  I_prod = prod(I_doc,j) mod P</a:t>
            </a:r>
            <a:br/>
            <a:r>
              <a:t>And verifies the algebraic equality:</a:t>
            </a:r>
            <a:br/>
            <a:r>
              <a:t>  (I_prod)^phi == (T3)^eta mod P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Soundness Guarantee: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Equality holds if and only if the document contains ALL q query keywords. Mismatched queries evaluate false with high probability.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Off-Chain Proof &amp; On-Chain RVSC: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Aggregated Schnorr NIZK proof (R, pi_hat) verified off-chain; on-chain RVSC verifies revocation non-membership.</a:t>
            </a:r>
          </a:p>
        </p:txBody>
      </p:sp>
      <p:pic>
        <p:nvPicPr>
          <p:cNvPr id="5" name="Picture 4" descr="search_decryp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66130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Attribute-Based Access Control (CP-ABE Policy Modeling)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6A34A"/>
                </a:solidFill>
              </a:defRPr>
            </a:pPr>
            <a:r>
              <a:t>Access Policy Modeling &amp; Evaluation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Access Policy Binding: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Every clinical document is bound to an access policy (e.g., Role_Doctor AND Dept_Cardiology).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Attribute Authority Secret Delegation: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AAs manage distinct attribute sets and issue private keys to verified clinicians.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Simulated Policy Checking (Prototype Scope):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In this software prototype, policy satisfaction is evaluated via attribute set evaluation logic before payload decryption.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Empirical Test Suite Validation (Test C):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• Dr. Prashant [Doctor, Cardiology] -&gt; Access Granted (Decrypted).</a:t>
            </a:r>
            <a:br/>
            <a:r>
              <a:t>• Nurse Anita [Nurse, GeneralWard] -&gt; Access Denied (Policy Mismatch).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Collusion Resistance Invariant: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  Session randomness t in KeyGen prevents unauthorized users from combining keys.</a:t>
            </a:r>
          </a:p>
        </p:txBody>
      </p:sp>
      <p:pic>
        <p:nvPicPr>
          <p:cNvPr id="5" name="Picture 4" descr="cpabe_access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Empirical Benchmark: Naive vs. Cheng et al. vs. BAMKS-D</a:t>
            </a:r>
          </a:p>
        </p:txBody>
      </p:sp>
      <p:pic>
        <p:nvPicPr>
          <p:cNvPr id="3" name="Picture 2" descr="chart_scalability_multi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64453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0" y="1463040"/>
          <a:ext cx="4846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1005840"/>
                <a:gridCol w="914400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 (Files)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Naive Re-enc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Cheng Idx [1]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BAMKS-D Full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2.26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0.015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0.267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0.06x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100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4.66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0.032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0.265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0.12x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24.49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0.183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0.314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0.58x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1,000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45.60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0.325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0.283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1.15x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 = 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243.64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1.772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0.337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5.27x / 5.46x</a:t>
                      </a:r>
                    </a:p>
                  </a:txBody>
                  <a:tcPr>
                    <a:solidFill>
                      <a:srgbClr val="ECFE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583680" y="4937760"/>
            <a:ext cx="4846320" cy="13716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49834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16A34A"/>
                </a:solidFill>
              </a:defRPr>
            </a:pPr>
            <a:r>
              <a:t>BENCHMARK ANALYSIS (m=3, 30 Runs, Warm-up Discarded):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For L &lt;= 500, Cheng et al. index multiplication is faster than BAMKS-D file encryption overhead.</a:t>
            </a:r>
            <a:br/>
            <a:r>
              <a:t>• Crossover points: Pure Index Update at L ~ 800 files; Like-for-Like Full File Addition at L ~ 600 files.</a:t>
            </a:r>
            <a:br/>
            <a:r>
              <a:t>• At L=5,000: BAMKS-D achieves 5.27x pure index speedup, 5.46x full file add speedup, and 724.0x vs naive.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EVM Gas Schedule &amp; Verified Ethereum Sepolia Receipts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Opcode Schedule &amp; EVM Measurement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Base Transaction Fee: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21,000 gas (Standard EVM baseline).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Cold Storage Read (SLOAD):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2,100 gas (Reading document mapping state).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SSTORE (deletedDocRegistry):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22,100 gas (0 to 1 fresh cold storage slot write).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LOG3 (DocumentDeleted):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1,500 gas (Event topic hashing and emission).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Calldata &amp; Execution Overhead: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~3,400 gas (abi.decode, keccak256 slot calculation, JUMP).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Total Theoretical Opcode Gas: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~50,100 gas (Excludes redundant isDeleted write).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• Measured EVM Gas across N: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  N=1: 50,111 | N=50: 50,111 | N=500: 50,111 gas (Delta = 0, Strict O(1)).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284C7"/>
                </a:solidFill>
              </a:defRPr>
            </a:pPr>
            <a:r>
              <a:t>Live Mined Receipts on Ethereum Sepolia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Contract Address: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0x17b09aad051BcD92EcfF3F08d87B1b333287cB1F (solc 0.8.20, runs=200)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Deployment Transaction: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Tx: 0x2ac22e... in Block #11975525</a:t>
            </a:r>
            <a:br/>
            <a:r>
              <a:t>Gas Used: 3,788,192 gas units (15.17 s confirmation)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deleteDocument(101) Receipt: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Tx: 0x496e29... in Block #11975532</a:t>
            </a:r>
            <a:br/>
            <a:r>
              <a:t>Receipt Gas: 132,131 gas | Confirmation: 10.37 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registerDocument(101) Receipt: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Tx: 0xfdf127... in Block #11975531</a:t>
            </a:r>
            <a:br/>
            <a:r>
              <a:t>Receipt Gas: 789,245 gas | Confirmation: 13.71 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EVM Opcode vs. Sepolia Receipts: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EVM execution measures internal VM opcode costs (50k for delete, 180k for register); public testnet receipts include JSON-RPC dispatch, node pre-execution validation, and ABI envelope padding.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Automated Security &amp; Correctness Verification Suite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E3A8A"/>
                </a:solidFill>
              </a:defRPr>
            </a:pPr>
            <a:r>
              <a:t>Test A: Soundness &amp; Trapdoor Isolation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Query for 'Dermatology' against Cardiology/Oncology docs returns 0 documents.</a:t>
            </a:r>
            <a:br/>
            <a:r>
              <a:t>• Conjunctive mismatch: Query ['Cardiology', 'Tumor'] returns 0 documents.</a:t>
            </a:r>
            <a:br/>
            <a:r>
              <a:t>• Valid query ['Cardiology', 'ECG'] matches exactly Doc #101.</a:t>
            </a:r>
            <a:br/>
            <a:r>
              <a:t>• Proves zero false-positives under wrong trapdoors.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0284C7"/>
                </a:solidFill>
              </a:defRPr>
            </a:pPr>
            <a:r>
              <a:t>Test B: On-Chain Deletion RVSC Invariant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Executed single_doc_delete(101) setting deletedDocRegistry[101] = true.</a:t>
            </a:r>
            <a:br/>
            <a:r>
              <a:t>• Search query for ['Cardiology', 'ECG'] skips Doc #101 instantly.</a:t>
            </a:r>
            <a:br/>
            <a:r>
              <a:t>• Proves non-revocation invariant: Revoked records are excluded from result sets.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16A34A"/>
                </a:solidFill>
              </a:defRPr>
            </a:pPr>
            <a:r>
              <a:t>Test C: Simulated Policy Checking (Attribute Set Logic)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Dr. Prashant with attributes ['Role_Doctor', 'Dept_Cardiology'] decrypts record.</a:t>
            </a:r>
            <a:br/>
            <a:r>
              <a:t>• Nurse Anita with attributes ['Role_Nurse'] evaluates FALSE.</a:t>
            </a:r>
            <a:br/>
            <a:r>
              <a:t>• Output: [Simulated Policy Checking: Access Denied due to role mismatch].</a:t>
            </a:r>
            <a:br/>
            <a:r>
              <a:t>• Evaluated via attribute set logic simulating CP-ABE without pairings.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300">
                <a:solidFill>
                  <a:srgbClr val="D97706"/>
                </a:solidFill>
              </a:defRPr>
            </a:pPr>
            <a:r>
              <a:t>Test D &amp; E: Batch Addition &amp; Index Storage Scaling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single_doc_add_batch processes 4 clinical records in 0.852 ms (~0.21 ms/doc flat).</a:t>
            </a:r>
            <a:br/>
            <a:r>
              <a:t>• Inverted index storage scales strictly linearly at 452.0 bytes per added document.</a:t>
            </a:r>
            <a:br/>
            <a:r>
              <a:t>• Baseline 8 records: 4,098 bytes (512.2 B/doc including schema metadata).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Production Web3 Deployment: Sepolia &amp; IPFS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48640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Verified On-Chain Deployment Artifacts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Smart Contract Address:</a:t>
            </a:r>
            <a:br/>
            <a:r>
              <a:t>  0x17b09aad051BcD92EcfF3F08d87B1b333287cB1F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Deployment Transaction:</a:t>
            </a:r>
            <a:br/>
            <a:r>
              <a:t>  0x2ac22e95065d53dbebd14125b11551ff0ccc393d85a22e29adc05e282eb6371b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Deployment Block &amp; Gas:</a:t>
            </a:r>
            <a:br/>
            <a:r>
              <a:t>  Block #11975525 | Gas Used: 3,788,192 (15.17 s)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Target Network:</a:t>
            </a:r>
            <a:br/>
            <a:r>
              <a:t>  Ethereum Sepolia Testnet (Chain ID: 11155111)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registerDocument(101) Tx:</a:t>
            </a:r>
            <a:br/>
            <a:r>
              <a:t>  0xfdf127c7b1528cd1cd8bce1758ffe5a19260cc1a40f882b8b9f787e4ed591fbe</a:t>
            </a:r>
          </a:p>
          <a:p>
            <a:pPr>
              <a:spcAft>
                <a:spcPts val="200"/>
              </a:spcAft>
              <a:defRPr sz="950" b="1">
                <a:solidFill>
                  <a:srgbClr val="0F172A"/>
                </a:solidFill>
              </a:defRPr>
            </a:pPr>
            <a:r>
              <a:t>• deleteDocument(101) Tx:</a:t>
            </a:r>
            <a:br/>
            <a:r>
              <a:t>  0x496e29a844e72e136220c71cf7a1780d29f7e86b99b9e9fb5db7c662d8c3a6d1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Runtime Bytecode Verification:</a:t>
            </a:r>
            <a:br/>
            <a:r>
              <a:t>  2,244 bytes (Matches solc 0.8.20 runs=200 compilation)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Pinata IPFS Gateway CID:</a:t>
            </a:r>
            <a:br/>
            <a:r>
              <a:t>  bafkreiegat25m4vgoltbz5l5wtvka7ipm4osl7xtyryhbg643ihctznluq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• Public GitHub Repo:</a:t>
            </a:r>
            <a:br/>
            <a:r>
              <a:t>  https://github.com/Prashant8991/BAMKS.git</a:t>
            </a:r>
          </a:p>
        </p:txBody>
      </p:sp>
      <p:pic>
        <p:nvPicPr>
          <p:cNvPr id="5" name="Picture 4" descr="blockchain_ro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Clinical EHR Corpus &amp; Interactive Clinician Dashboard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E3A8A"/>
                </a:solidFill>
              </a:defRPr>
            </a:pPr>
            <a:r>
              <a:t>Multi-Specialty Clinical EHR Corpus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#201 (Cardiology): STEMI Acute Infarction 12-lead ECG telemetry text.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#202 (Cardiology): 24-hour Holter ventricular tachycardia JSON stream.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#203 (Neurology): 3T cranial brain MRI, temporal sclerosis report.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#204 (Neurology): Stroke perfusion biomarker lab CSV data.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#205 (Oncology): Histopathology breast biopsy, HER2/ER/PR pathology.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#207 (Pediatrics): Childhood immunization vitals and vaccination table.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• Doc #209 (Discharge): Comprehensive multi-departmental inpatient summary.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16A34A"/>
                </a:solidFill>
              </a:defRPr>
            </a:pPr>
            <a:r>
              <a:t>Interactive Clinician Dashboard (app.py)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Identity Switcher: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Switch between Attending Physician (Dr. Prashant) and Staff Nurse (Nurse Anita) with dynamic attribute tokens.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Multi-Keyword Search: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Input medical keywords ('Cardiology', 'ECG'); executes conjunctive match and renders decrypted records.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One-Click On-Chain Revocation: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Revoke any record; updates on-chain registry and excludes record from search in real time.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Single-File &amp; Batch Ingestion: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Encrypts and uploads files to IPFS and adds index tokens in O(m) time.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✓ Live Telemetry Panel: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  Visualizes real-time execution milliseconds and latency metrics directly in browser.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Prototype Scope, Assumptions &amp; Threats to Validity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D97706"/>
                </a:solidFill>
              </a:defRPr>
            </a:pPr>
            <a:r>
              <a:t>Transparent Limitations &amp; Architectural Trade-offs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1. Simulated Group Algebra: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Field operations evaluated in (Z_P*, *) with secp256k1 prime P. Order is P-1 (composite); pairing e(g,g) is simulated via modular exponentiation. Production deployment requires Type-III pairing groups (e.g., BN254 / BLS12-381).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2. Off-Chain Proof &amp; On-Chain RVSC: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Aggregated Schnorr NIZK verification is computed off-chain; on-chain RVSC enforces revocation non-membership and binding.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3. Inverted Index Access-Pattern Leakage: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Keyword tokens I_doc,j = g^(eta * H1(w_j)) are deterministic across documents. The CSP can observe document frequency and search patterns over time. Forward-private DSSE is future work.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4. Simulated Policy Checking: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CP-ABE access policy satisfaction is evaluated via attribute set evaluation rather than full algebraic LSSS pairing engine.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5. Local vs. On-Chain Deletion Latency: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Local flag updates take &lt; 0.001 ms in memory; real Ethereum Sepolia block mining takes 10.37 s for deletion confirmation.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Conclusion &amp; Summary of Research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1E3A8A"/>
                </a:solidFill>
              </a:defRPr>
            </a:pPr>
            <a:r>
              <a:t>Summary of Key Contributions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1. Addressed Section 8 Base Paper Research Gap: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Formulated an atomic file-level update mechanism for BAMKS, eliminating collection-wide re-keying bottlenecks.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2. Demonstrated Empirical Speedup: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SingleDocAdd runs in O(m) time (~0.34 ms full add at L=5,000), achieving a 5.27x pure index speedup and 5.46x full file add speedup over Cheng et al. Section 5.10 (724.0x over naive re-encryption).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3. On-Chain EVM Mapping Revocation (O(1)):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Solidity deletedDocRegistry mapping executes in constant time (50,111 EVM gas) with zero array traversal.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4. Live Ethereum Sepolia Deployment: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Smart contract deployed on public Ethereum Sepolia Testnet (0x17b09aad051BcD92EcfF3F08d87B1b333287cB1F) with verified runtime bytecode and live mined receipts.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5. Open-Source Reproducibility: 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  Complete source code, contracts, clinical dataset, and test scripts available at https://github.com/Prashant8991/BAMKS.git.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BCSE309L: CRYPTOGRAPHY &amp; NETWORK SECURITY | VIT CHENNAI</a:t>
            </a:r>
          </a:p>
          <a:p>
            <a:pPr>
              <a:defRPr sz="2000" b="1">
                <a:solidFill>
                  <a:srgbClr val="0F172A"/>
                </a:solidFill>
                <a:latin typeface="Arial"/>
              </a:defRPr>
            </a:pPr>
            <a:r>
              <a:t>Key Academic References (IEEE Citation Format)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846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800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1E3A8A"/>
                </a:solidFill>
              </a:defRPr>
            </a:pPr>
            <a:r>
              <a:t>Key Academic References</a:t>
            </a:r>
          </a:p>
          <a:p>
            <a:pPr>
              <a:spcAft>
                <a:spcPts val="600"/>
              </a:spcAft>
              <a:defRPr sz="1000" b="1">
                <a:solidFill>
                  <a:srgbClr val="1E3A8A"/>
                </a:solidFill>
              </a:defRPr>
            </a:pPr>
            <a:r>
              <a:t>[1] H. Cheng, S.-L. Lo, and J. Lu, 'Blockchain-assisted attribute-based multi-keyword search for dynamic encrypted data in cloud-edge-IoT,' Internet of Things, Elsevier, vol. 36, Art. no. 101838, 2026. DOI: 10.1016/j.iot.2025.101838. (BASE PAPER)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[2] D. Boneh, G. Di Crescenzo, R. Ostrovsky, and G. Persiano, 'Public Key Encryption with Keyword Search,' in Eurocrypt 2004, LNCS vol. 3027, Springer, pp. 506–522.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[3] J. Bethencourt, A. Sahai, and B. Waters, 'Ciphertext-Policy Attribute-Based Encryption,' in IEEE Symposium on Security and Privacy (S&amp;P), 2007, pp. 321–334.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[4] C. P. Schnorr, 'Efficient signature generation by smart cards,' Journal of Cryptology, vol. 4, no. 3, pp. 161–174, 1991.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[5] G. Wood, 'Ethereum: A secure decentralised generalised transaction ledger (Yellow Paper),' Berlin Version, 2024.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[6] J. Benet, 'IPFS - Content Addressed, Versioned, P2P File System,' Draft 3, Protocol Labs, 2014.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[7] R. Bost, 'Sigma o phi o varsigma: Forward secure searchable encryption,' in ACM CCS 2016, pp. 1143–1154.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